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drawings/drawing1.xml" ContentType="application/vnd.openxmlformats-officedocument.drawingml.chartshapes+xml"/>
  <Override PartName="/ppt/charts/chart3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4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5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6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7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8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9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4" r:id="rId6"/>
    <p:sldId id="260" r:id="rId7"/>
    <p:sldId id="261" r:id="rId8"/>
    <p:sldId id="262" r:id="rId9"/>
    <p:sldId id="263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15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HP%20Victus\Desktop\charts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1.xml"/><Relationship Id="rId1" Type="http://schemas.openxmlformats.org/officeDocument/2006/relationships/oleObject" Target="file:///C:\Users\HP%20Victus\Desktop\charts.xlsx" TargetMode="Externa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HP%20Victus\Desktop\charts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HP%20Victus\Desktop\charts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HP%20Victus\Desktop\charts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HP%20Victus\Desktop\charts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HP%20Victus\Desktop\charts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HP%20Victus\Desktop\New%20Dashboard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HP%20Victus\Desktop\charts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/>
              <a:t>Total</a:t>
            </a:r>
            <a:r>
              <a:rPr lang="en-US" b="1" baseline="0"/>
              <a:t> Refunds by Issue Category</a:t>
            </a:r>
            <a:endParaRPr lang="en-US" b="1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4.7344798859163484E-2"/>
              <c:y val="-8.4919518256816609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9.1904609550141084E-2"/>
              <c:y val="4.9163931622367429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5.5699763363721864E-2"/>
              <c:y val="9.3858414915428887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6.1269739700094056E-2"/>
              <c:y val="5.810282828097979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8.3549645045582807E-2"/>
              <c:y val="2.2347241646530687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8.9119621381955005E-2"/>
              <c:y val="-1.3408344987918494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0.1253244675683742"/>
              <c:y val="-0.11620565656195958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8.9119621381954992E-2"/>
              <c:y val="-9.8327863244735011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8.3549645045583303E-3"/>
              <c:y val="-8.4919518256816609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4.7344798859163484E-2"/>
              <c:y val="-8.4919518256816609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9.1904609550141084E-2"/>
              <c:y val="4.9163931622367429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5.5699763363721864E-2"/>
              <c:y val="9.3858414915428887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6.1269739700094056E-2"/>
              <c:y val="5.810282828097979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8.3549645045582807E-2"/>
              <c:y val="2.2347241646530687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8.9119621381955005E-2"/>
              <c:y val="-1.3408344987918494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0.1253244675683742"/>
              <c:y val="-0.11620565656195958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8.9119621381954992E-2"/>
              <c:y val="-9.8327863244735011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8.3549645045583303E-3"/>
              <c:y val="-8.4919518256816609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4.7344798859163484E-2"/>
              <c:y val="-8.4919518256816609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9.1904609550141084E-2"/>
              <c:y val="4.9163931622367429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5.5699763363721864E-2"/>
              <c:y val="9.3858414915428887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6.1269739700094056E-2"/>
              <c:y val="5.810282828097979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8.3549645045582807E-2"/>
              <c:y val="2.2347241646530687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8.9119621381955005E-2"/>
              <c:y val="-1.3408344987918494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0.1253244675683742"/>
              <c:y val="-0.11620565656195958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8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8.9119621381954992E-2"/>
              <c:y val="-9.8327863244735011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9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8.3549645045583303E-3"/>
              <c:y val="-8.4919518256816609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4.7344798859163484E-2"/>
              <c:y val="-8.4919518256816609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9.1904609550141084E-2"/>
              <c:y val="4.9163931622367429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5.5699763363721864E-2"/>
              <c:y val="9.3858414915428887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6.1269739700094056E-2"/>
              <c:y val="5.810282828097979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8.3549645045582807E-2"/>
              <c:y val="2.2347241646530687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8.9119621381955005E-2"/>
              <c:y val="-1.3408344987918494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0.1253244675683742"/>
              <c:y val="-0.11620565656195958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8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8.9119621381954992E-2"/>
              <c:y val="-9.8327863244735011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9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8.3549645045583303E-3"/>
              <c:y val="-8.4919518256816609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doughnutChart>
        <c:varyColors val="1"/>
        <c:ser>
          <c:idx val="0"/>
          <c:order val="0"/>
          <c:tx>
            <c:v>Total</c:v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D869-49D1-B6EB-35576937CE1C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D869-49D1-B6EB-35576937CE1C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D869-49D1-B6EB-35576937CE1C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D869-49D1-B6EB-35576937CE1C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D869-49D1-B6EB-35576937CE1C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D869-49D1-B6EB-35576937CE1C}"/>
              </c:ext>
            </c:extLst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D-D869-49D1-B6EB-35576937CE1C}"/>
              </c:ext>
            </c:extLst>
          </c:dPt>
          <c:dPt>
            <c:idx val="7"/>
            <c:bubble3D val="0"/>
            <c:spPr>
              <a:solidFill>
                <a:schemeClr val="accent2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F-D869-49D1-B6EB-35576937CE1C}"/>
              </c:ext>
            </c:extLst>
          </c:dPt>
          <c:dPt>
            <c:idx val="8"/>
            <c:bubble3D val="0"/>
            <c:spPr>
              <a:solidFill>
                <a:schemeClr val="accent3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1-D869-49D1-B6EB-35576937CE1C}"/>
              </c:ext>
            </c:extLst>
          </c:dPt>
          <c:dLbls>
            <c:dLbl>
              <c:idx val="0"/>
              <c:layout>
                <c:manualLayout>
                  <c:x val="4.7344798859163484E-2"/>
                  <c:y val="-8.491951825681660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D869-49D1-B6EB-35576937CE1C}"/>
                </c:ext>
              </c:extLst>
            </c:dLbl>
            <c:dLbl>
              <c:idx val="1"/>
              <c:layout>
                <c:manualLayout>
                  <c:x val="9.1904609550141084E-2"/>
                  <c:y val="4.916393162236742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D869-49D1-B6EB-35576937CE1C}"/>
                </c:ext>
              </c:extLst>
            </c:dLbl>
            <c:dLbl>
              <c:idx val="2"/>
              <c:layout>
                <c:manualLayout>
                  <c:x val="5.5699763363721864E-2"/>
                  <c:y val="9.385841491542888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D869-49D1-B6EB-35576937CE1C}"/>
                </c:ext>
              </c:extLst>
            </c:dLbl>
            <c:dLbl>
              <c:idx val="3"/>
              <c:layout>
                <c:manualLayout>
                  <c:x val="-6.1269739700094056E-2"/>
                  <c:y val="5.81028282809797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D869-49D1-B6EB-35576937CE1C}"/>
                </c:ext>
              </c:extLst>
            </c:dLbl>
            <c:dLbl>
              <c:idx val="4"/>
              <c:layout>
                <c:manualLayout>
                  <c:x val="-8.3549645045582807E-2"/>
                  <c:y val="2.234724164653068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D869-49D1-B6EB-35576937CE1C}"/>
                </c:ext>
              </c:extLst>
            </c:dLbl>
            <c:dLbl>
              <c:idx val="5"/>
              <c:layout>
                <c:manualLayout>
                  <c:x val="-8.9119621381955005E-2"/>
                  <c:y val="-1.340834498791849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D869-49D1-B6EB-35576937CE1C}"/>
                </c:ext>
              </c:extLst>
            </c:dLbl>
            <c:dLbl>
              <c:idx val="6"/>
              <c:layout>
                <c:manualLayout>
                  <c:x val="-0.1253244675683742"/>
                  <c:y val="-0.11620565656195958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D869-49D1-B6EB-35576937CE1C}"/>
                </c:ext>
              </c:extLst>
            </c:dLbl>
            <c:dLbl>
              <c:idx val="7"/>
              <c:layout>
                <c:manualLayout>
                  <c:x val="-8.9119621381954992E-2"/>
                  <c:y val="-9.832786324473501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D869-49D1-B6EB-35576937CE1C}"/>
                </c:ext>
              </c:extLst>
            </c:dLbl>
            <c:dLbl>
              <c:idx val="8"/>
              <c:layout>
                <c:manualLayout>
                  <c:x val="-8.3549645045583303E-3"/>
                  <c:y val="-8.491951825681660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D869-49D1-B6EB-35576937CE1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Lit>
              <c:ptCount val="9"/>
              <c:pt idx="0">
                <c:v>Product Defect</c:v>
              </c:pt>
              <c:pt idx="1">
                <c:v>Damaged in Transit</c:v>
              </c:pt>
              <c:pt idx="2">
                <c:v>Late Delivery</c:v>
              </c:pt>
              <c:pt idx="3">
                <c:v>Warranty Claim</c:v>
              </c:pt>
              <c:pt idx="4">
                <c:v>Wrong Item Delivered</c:v>
              </c:pt>
              <c:pt idx="5">
                <c:v>Not as Described</c:v>
              </c:pt>
              <c:pt idx="6">
                <c:v>Billing Issue</c:v>
              </c:pt>
              <c:pt idx="7">
                <c:v>Size/Fit Mismatch</c:v>
              </c:pt>
              <c:pt idx="8">
                <c:v>Other</c:v>
              </c:pt>
            </c:strLit>
          </c:cat>
          <c:val>
            <c:numLit>
              <c:formatCode>General</c:formatCode>
              <c:ptCount val="9"/>
              <c:pt idx="0">
                <c:v>7199228.2199999867</c:v>
              </c:pt>
              <c:pt idx="1">
                <c:v>4479450.13</c:v>
              </c:pt>
              <c:pt idx="2">
                <c:v>3884846.3200000008</c:v>
              </c:pt>
              <c:pt idx="3">
                <c:v>3670862.1300000045</c:v>
              </c:pt>
              <c:pt idx="4">
                <c:v>2912685.7899999972</c:v>
              </c:pt>
              <c:pt idx="5">
                <c:v>2094298.9899999988</c:v>
              </c:pt>
              <c:pt idx="6">
                <c:v>1895751.3300000012</c:v>
              </c:pt>
              <c:pt idx="7">
                <c:v>1692506.7999999998</c:v>
              </c:pt>
              <c:pt idx="8">
                <c:v>1470026.8199999989</c:v>
              </c:pt>
            </c:numLit>
          </c:val>
          <c:extLst>
            <c:ext xmlns:c16="http://schemas.microsoft.com/office/drawing/2014/chart" uri="{C3380CC4-5D6E-409C-BE32-E72D297353CC}">
              <c16:uniqueId val="{00000012-D869-49D1-B6EB-35576937CE1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66633911989549488"/>
          <c:y val="0.14292204789418597"/>
          <c:w val="0.3169509510953884"/>
          <c:h val="0.75478283759995557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solidFill>
        <a:schemeClr val="tx1"/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800" b="1"/>
              <a:t>Top 5 &amp; Bottom 5 Products Refund Amount</a:t>
            </a:r>
          </a:p>
        </c:rich>
      </c:tx>
      <c:layout>
        <c:manualLayout>
          <c:xMode val="edge"/>
          <c:yMode val="edge"/>
          <c:x val="0.30315813895786947"/>
          <c:y val="2.6399132362374168E-2"/>
        </c:manualLayout>
      </c:layout>
      <c:overlay val="0"/>
      <c:spPr>
        <a:noFill/>
        <a:ln>
          <a:noFill/>
        </a:ln>
        <a:effectLst/>
      </c:sp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rgbClr val="C00000"/>
          </a:solidFill>
          <a:ln>
            <a:noFill/>
          </a:ln>
          <a:effectLst/>
        </c:spPr>
      </c:pivotFmt>
      <c:pivotFmt>
        <c:idx val="2"/>
        <c:spPr>
          <a:solidFill>
            <a:srgbClr val="C00000"/>
          </a:solidFill>
          <a:ln>
            <a:noFill/>
          </a:ln>
          <a:effectLst/>
        </c:spPr>
      </c:pivotFmt>
      <c:pivotFmt>
        <c:idx val="3"/>
        <c:spPr>
          <a:solidFill>
            <a:srgbClr val="C00000"/>
          </a:solidFill>
          <a:ln>
            <a:noFill/>
          </a:ln>
          <a:effectLst/>
        </c:spPr>
      </c:pivotFmt>
      <c:pivotFmt>
        <c:idx val="4"/>
        <c:spPr>
          <a:solidFill>
            <a:srgbClr val="C00000"/>
          </a:solidFill>
          <a:ln>
            <a:noFill/>
          </a:ln>
          <a:effectLst/>
        </c:spPr>
      </c:pivotFmt>
      <c:pivotFmt>
        <c:idx val="5"/>
        <c:spPr>
          <a:solidFill>
            <a:srgbClr val="C00000"/>
          </a:solidFill>
          <a:ln>
            <a:noFill/>
          </a:ln>
          <a:effectLst/>
        </c:spPr>
      </c:pivotFmt>
      <c:pivotFmt>
        <c:idx val="6"/>
        <c:spPr>
          <a:solidFill>
            <a:schemeClr val="accent6"/>
          </a:solidFill>
          <a:ln>
            <a:noFill/>
          </a:ln>
          <a:effectLst/>
        </c:spPr>
      </c:pivotFmt>
      <c:pivotFmt>
        <c:idx val="7"/>
        <c:spPr>
          <a:solidFill>
            <a:schemeClr val="accent6"/>
          </a:solidFill>
          <a:ln>
            <a:noFill/>
          </a:ln>
          <a:effectLst/>
        </c:spPr>
      </c:pivotFmt>
      <c:pivotFmt>
        <c:idx val="8"/>
        <c:spPr>
          <a:solidFill>
            <a:schemeClr val="accent6"/>
          </a:solidFill>
          <a:ln>
            <a:noFill/>
          </a:ln>
          <a:effectLst/>
        </c:spPr>
      </c:pivotFmt>
      <c:pivotFmt>
        <c:idx val="9"/>
        <c:spPr>
          <a:solidFill>
            <a:schemeClr val="accent6"/>
          </a:solidFill>
          <a:ln>
            <a:noFill/>
          </a:ln>
          <a:effectLst/>
        </c:spPr>
      </c:pivotFmt>
      <c:pivotFmt>
        <c:idx val="10"/>
        <c:spPr>
          <a:solidFill>
            <a:schemeClr val="accent6"/>
          </a:solidFill>
          <a:ln>
            <a:noFill/>
          </a:ln>
          <a:effectLst/>
        </c:spPr>
      </c:pivotFmt>
      <c:pivotFmt>
        <c:idx val="11"/>
        <c:spPr>
          <a:solidFill>
            <a:schemeClr val="accent6"/>
          </a:solidFill>
          <a:ln>
            <a:noFill/>
          </a:ln>
          <a:effectLst/>
        </c:spPr>
      </c:pivotFmt>
      <c:pivotFmt>
        <c:idx val="1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6"/>
          </a:solidFill>
          <a:ln>
            <a:noFill/>
          </a:ln>
          <a:effectLst/>
        </c:spPr>
      </c:pivotFmt>
      <c:pivotFmt>
        <c:idx val="14"/>
        <c:spPr>
          <a:solidFill>
            <a:schemeClr val="accent6"/>
          </a:solidFill>
          <a:ln>
            <a:noFill/>
          </a:ln>
          <a:effectLst/>
        </c:spPr>
      </c:pivotFmt>
      <c:pivotFmt>
        <c:idx val="15"/>
        <c:spPr>
          <a:solidFill>
            <a:schemeClr val="accent6"/>
          </a:solidFill>
          <a:ln>
            <a:noFill/>
          </a:ln>
          <a:effectLst/>
        </c:spPr>
      </c:pivotFmt>
      <c:pivotFmt>
        <c:idx val="16"/>
        <c:spPr>
          <a:solidFill>
            <a:schemeClr val="accent6"/>
          </a:solidFill>
          <a:ln>
            <a:noFill/>
          </a:ln>
          <a:effectLst/>
        </c:spPr>
      </c:pivotFmt>
      <c:pivotFmt>
        <c:idx val="17"/>
        <c:spPr>
          <a:solidFill>
            <a:schemeClr val="accent6"/>
          </a:solidFill>
          <a:ln>
            <a:noFill/>
          </a:ln>
          <a:effectLst/>
        </c:spPr>
      </c:pivotFmt>
      <c:pivotFmt>
        <c:idx val="18"/>
        <c:spPr>
          <a:solidFill>
            <a:schemeClr val="accent6"/>
          </a:solidFill>
          <a:ln>
            <a:noFill/>
          </a:ln>
          <a:effectLst/>
        </c:spPr>
      </c:pivotFmt>
      <c:pivotFmt>
        <c:idx val="19"/>
        <c:spPr>
          <a:solidFill>
            <a:srgbClr val="C00000"/>
          </a:solidFill>
          <a:ln>
            <a:noFill/>
          </a:ln>
          <a:effectLst/>
        </c:spPr>
      </c:pivotFmt>
      <c:pivotFmt>
        <c:idx val="20"/>
        <c:spPr>
          <a:solidFill>
            <a:srgbClr val="C00000"/>
          </a:solidFill>
          <a:ln>
            <a:noFill/>
          </a:ln>
          <a:effectLst/>
        </c:spPr>
      </c:pivotFmt>
      <c:pivotFmt>
        <c:idx val="21"/>
        <c:spPr>
          <a:solidFill>
            <a:srgbClr val="C00000"/>
          </a:solidFill>
          <a:ln>
            <a:noFill/>
          </a:ln>
          <a:effectLst/>
        </c:spPr>
      </c:pivotFmt>
      <c:pivotFmt>
        <c:idx val="22"/>
        <c:spPr>
          <a:solidFill>
            <a:srgbClr val="C00000"/>
          </a:solidFill>
          <a:ln>
            <a:noFill/>
          </a:ln>
          <a:effectLst/>
        </c:spPr>
      </c:pivotFmt>
      <c:pivotFmt>
        <c:idx val="23"/>
        <c:spPr>
          <a:solidFill>
            <a:srgbClr val="C00000"/>
          </a:solidFill>
          <a:ln>
            <a:noFill/>
          </a:ln>
          <a:effectLst/>
        </c:spPr>
      </c:pivotFmt>
      <c:pivotFmt>
        <c:idx val="2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5"/>
        <c:spPr>
          <a:solidFill>
            <a:schemeClr val="accent6"/>
          </a:solidFill>
          <a:ln>
            <a:noFill/>
          </a:ln>
          <a:effectLst/>
        </c:spPr>
      </c:pivotFmt>
      <c:pivotFmt>
        <c:idx val="26"/>
        <c:spPr>
          <a:solidFill>
            <a:schemeClr val="accent6"/>
          </a:solidFill>
          <a:ln>
            <a:noFill/>
          </a:ln>
          <a:effectLst/>
        </c:spPr>
      </c:pivotFmt>
      <c:pivotFmt>
        <c:idx val="27"/>
        <c:spPr>
          <a:solidFill>
            <a:schemeClr val="accent6"/>
          </a:solidFill>
          <a:ln>
            <a:noFill/>
          </a:ln>
          <a:effectLst/>
        </c:spPr>
      </c:pivotFmt>
      <c:pivotFmt>
        <c:idx val="28"/>
        <c:spPr>
          <a:solidFill>
            <a:schemeClr val="accent6"/>
          </a:solidFill>
          <a:ln>
            <a:noFill/>
          </a:ln>
          <a:effectLst/>
        </c:spPr>
      </c:pivotFmt>
      <c:pivotFmt>
        <c:idx val="29"/>
        <c:spPr>
          <a:solidFill>
            <a:schemeClr val="accent6"/>
          </a:solidFill>
          <a:ln>
            <a:noFill/>
          </a:ln>
          <a:effectLst/>
        </c:spPr>
      </c:pivotFmt>
      <c:pivotFmt>
        <c:idx val="30"/>
        <c:spPr>
          <a:solidFill>
            <a:schemeClr val="accent6"/>
          </a:solidFill>
          <a:ln>
            <a:noFill/>
          </a:ln>
          <a:effectLst/>
        </c:spPr>
      </c:pivotFmt>
      <c:pivotFmt>
        <c:idx val="31"/>
        <c:spPr>
          <a:solidFill>
            <a:srgbClr val="C00000"/>
          </a:solidFill>
          <a:ln>
            <a:noFill/>
          </a:ln>
          <a:effectLst/>
        </c:spPr>
      </c:pivotFmt>
      <c:pivotFmt>
        <c:idx val="32"/>
        <c:spPr>
          <a:solidFill>
            <a:srgbClr val="C00000"/>
          </a:solidFill>
          <a:ln>
            <a:noFill/>
          </a:ln>
          <a:effectLst/>
        </c:spPr>
      </c:pivotFmt>
      <c:pivotFmt>
        <c:idx val="33"/>
        <c:spPr>
          <a:solidFill>
            <a:srgbClr val="C00000"/>
          </a:solidFill>
          <a:ln>
            <a:noFill/>
          </a:ln>
          <a:effectLst/>
        </c:spPr>
      </c:pivotFmt>
      <c:pivotFmt>
        <c:idx val="34"/>
        <c:spPr>
          <a:solidFill>
            <a:srgbClr val="C00000"/>
          </a:solidFill>
          <a:ln>
            <a:noFill/>
          </a:ln>
          <a:effectLst/>
        </c:spPr>
      </c:pivotFmt>
      <c:pivotFmt>
        <c:idx val="35"/>
        <c:spPr>
          <a:solidFill>
            <a:srgbClr val="C00000"/>
          </a:solidFill>
          <a:ln>
            <a:noFill/>
          </a:ln>
          <a:effectLst/>
        </c:spPr>
      </c:pivotFmt>
      <c:pivotFmt>
        <c:idx val="3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7"/>
        <c:spPr>
          <a:solidFill>
            <a:schemeClr val="accent6"/>
          </a:solidFill>
          <a:ln>
            <a:noFill/>
          </a:ln>
          <a:effectLst/>
        </c:spPr>
      </c:pivotFmt>
      <c:pivotFmt>
        <c:idx val="38"/>
        <c:spPr>
          <a:solidFill>
            <a:schemeClr val="accent6"/>
          </a:solidFill>
          <a:ln>
            <a:noFill/>
          </a:ln>
          <a:effectLst/>
        </c:spPr>
      </c:pivotFmt>
      <c:pivotFmt>
        <c:idx val="39"/>
        <c:spPr>
          <a:solidFill>
            <a:schemeClr val="accent6"/>
          </a:solidFill>
          <a:ln>
            <a:noFill/>
          </a:ln>
          <a:effectLst/>
        </c:spPr>
      </c:pivotFmt>
      <c:pivotFmt>
        <c:idx val="40"/>
        <c:spPr>
          <a:solidFill>
            <a:schemeClr val="accent6"/>
          </a:solidFill>
          <a:ln>
            <a:noFill/>
          </a:ln>
          <a:effectLst/>
        </c:spPr>
      </c:pivotFmt>
      <c:pivotFmt>
        <c:idx val="41"/>
        <c:spPr>
          <a:solidFill>
            <a:schemeClr val="accent6"/>
          </a:solidFill>
          <a:ln>
            <a:noFill/>
          </a:ln>
          <a:effectLst/>
        </c:spPr>
      </c:pivotFmt>
      <c:pivotFmt>
        <c:idx val="42"/>
        <c:spPr>
          <a:solidFill>
            <a:schemeClr val="accent6"/>
          </a:solidFill>
          <a:ln>
            <a:noFill/>
          </a:ln>
          <a:effectLst/>
        </c:spPr>
      </c:pivotFmt>
      <c:pivotFmt>
        <c:idx val="43"/>
        <c:spPr>
          <a:solidFill>
            <a:srgbClr val="C00000"/>
          </a:solidFill>
          <a:ln>
            <a:noFill/>
          </a:ln>
          <a:effectLst/>
        </c:spPr>
      </c:pivotFmt>
      <c:pivotFmt>
        <c:idx val="44"/>
        <c:spPr>
          <a:solidFill>
            <a:srgbClr val="C00000"/>
          </a:solidFill>
          <a:ln>
            <a:noFill/>
          </a:ln>
          <a:effectLst/>
        </c:spPr>
      </c:pivotFmt>
      <c:pivotFmt>
        <c:idx val="45"/>
        <c:spPr>
          <a:solidFill>
            <a:srgbClr val="C00000"/>
          </a:solidFill>
          <a:ln>
            <a:noFill/>
          </a:ln>
          <a:effectLst/>
        </c:spPr>
      </c:pivotFmt>
      <c:pivotFmt>
        <c:idx val="46"/>
        <c:spPr>
          <a:solidFill>
            <a:srgbClr val="C00000"/>
          </a:solidFill>
          <a:ln>
            <a:noFill/>
          </a:ln>
          <a:effectLst/>
        </c:spPr>
      </c:pivotFmt>
      <c:pivotFmt>
        <c:idx val="47"/>
        <c:spPr>
          <a:solidFill>
            <a:srgbClr val="C00000"/>
          </a:solidFill>
          <a:ln>
            <a:noFill/>
          </a:ln>
          <a:effectLst/>
        </c:spPr>
      </c:pivotFmt>
      <c:pivotFmt>
        <c:idx val="4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9"/>
        <c:spPr>
          <a:solidFill>
            <a:schemeClr val="accent6"/>
          </a:solidFill>
          <a:ln>
            <a:noFill/>
          </a:ln>
          <a:effectLst/>
        </c:spPr>
      </c:pivotFmt>
      <c:pivotFmt>
        <c:idx val="50"/>
        <c:spPr>
          <a:solidFill>
            <a:schemeClr val="accent6"/>
          </a:solidFill>
          <a:ln>
            <a:noFill/>
          </a:ln>
          <a:effectLst/>
        </c:spPr>
      </c:pivotFmt>
      <c:pivotFmt>
        <c:idx val="51"/>
        <c:spPr>
          <a:solidFill>
            <a:schemeClr val="accent6"/>
          </a:solidFill>
          <a:ln>
            <a:noFill/>
          </a:ln>
          <a:effectLst/>
        </c:spPr>
      </c:pivotFmt>
      <c:pivotFmt>
        <c:idx val="52"/>
        <c:spPr>
          <a:solidFill>
            <a:schemeClr val="accent6"/>
          </a:solidFill>
          <a:ln>
            <a:noFill/>
          </a:ln>
          <a:effectLst/>
        </c:spPr>
      </c:pivotFmt>
      <c:pivotFmt>
        <c:idx val="53"/>
        <c:spPr>
          <a:solidFill>
            <a:schemeClr val="accent6"/>
          </a:solidFill>
          <a:ln>
            <a:noFill/>
          </a:ln>
          <a:effectLst/>
        </c:spPr>
      </c:pivotFmt>
      <c:pivotFmt>
        <c:idx val="54"/>
        <c:spPr>
          <a:solidFill>
            <a:srgbClr val="C00000"/>
          </a:solidFill>
          <a:ln>
            <a:noFill/>
          </a:ln>
          <a:effectLst/>
        </c:spPr>
      </c:pivotFmt>
      <c:pivotFmt>
        <c:idx val="55"/>
        <c:spPr>
          <a:solidFill>
            <a:srgbClr val="C00000"/>
          </a:solidFill>
          <a:ln>
            <a:noFill/>
          </a:ln>
          <a:effectLst/>
        </c:spPr>
      </c:pivotFmt>
      <c:pivotFmt>
        <c:idx val="56"/>
        <c:spPr>
          <a:solidFill>
            <a:srgbClr val="C00000"/>
          </a:solidFill>
          <a:ln>
            <a:noFill/>
          </a:ln>
          <a:effectLst/>
        </c:spPr>
      </c:pivotFmt>
      <c:pivotFmt>
        <c:idx val="57"/>
        <c:spPr>
          <a:solidFill>
            <a:srgbClr val="C00000"/>
          </a:solidFill>
          <a:ln>
            <a:noFill/>
          </a:ln>
          <a:effectLst/>
        </c:spPr>
      </c:pivotFmt>
      <c:pivotFmt>
        <c:idx val="58"/>
        <c:spPr>
          <a:solidFill>
            <a:srgbClr val="C00000"/>
          </a:solidFill>
          <a:ln>
            <a:noFill/>
          </a:ln>
          <a:effectLst/>
        </c:spPr>
      </c:pivotFmt>
      <c:pivotFmt>
        <c:idx val="5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0"/>
        <c:spPr>
          <a:solidFill>
            <a:schemeClr val="accent6"/>
          </a:solidFill>
          <a:ln>
            <a:noFill/>
          </a:ln>
          <a:effectLst/>
        </c:spPr>
      </c:pivotFmt>
      <c:pivotFmt>
        <c:idx val="61"/>
        <c:spPr>
          <a:solidFill>
            <a:schemeClr val="accent6"/>
          </a:solidFill>
          <a:ln>
            <a:noFill/>
          </a:ln>
          <a:effectLst/>
        </c:spPr>
      </c:pivotFmt>
      <c:pivotFmt>
        <c:idx val="62"/>
        <c:spPr>
          <a:solidFill>
            <a:schemeClr val="accent6"/>
          </a:solidFill>
          <a:ln>
            <a:noFill/>
          </a:ln>
          <a:effectLst/>
        </c:spPr>
      </c:pivotFmt>
      <c:pivotFmt>
        <c:idx val="63"/>
        <c:spPr>
          <a:solidFill>
            <a:schemeClr val="accent6"/>
          </a:solidFill>
          <a:ln>
            <a:noFill/>
          </a:ln>
          <a:effectLst/>
        </c:spPr>
      </c:pivotFmt>
      <c:pivotFmt>
        <c:idx val="64"/>
        <c:spPr>
          <a:solidFill>
            <a:schemeClr val="accent6"/>
          </a:solidFill>
          <a:ln>
            <a:noFill/>
          </a:ln>
          <a:effectLst/>
        </c:spPr>
      </c:pivotFmt>
      <c:pivotFmt>
        <c:idx val="65"/>
        <c:spPr>
          <a:solidFill>
            <a:srgbClr val="C00000"/>
          </a:solidFill>
          <a:ln>
            <a:noFill/>
          </a:ln>
          <a:effectLst/>
        </c:spPr>
      </c:pivotFmt>
      <c:pivotFmt>
        <c:idx val="66"/>
        <c:spPr>
          <a:solidFill>
            <a:srgbClr val="C00000"/>
          </a:solidFill>
          <a:ln>
            <a:noFill/>
          </a:ln>
          <a:effectLst/>
        </c:spPr>
      </c:pivotFmt>
      <c:pivotFmt>
        <c:idx val="67"/>
        <c:spPr>
          <a:solidFill>
            <a:srgbClr val="C00000"/>
          </a:solidFill>
          <a:ln>
            <a:noFill/>
          </a:ln>
          <a:effectLst/>
        </c:spPr>
      </c:pivotFmt>
      <c:pivotFmt>
        <c:idx val="68"/>
        <c:spPr>
          <a:solidFill>
            <a:srgbClr val="C00000"/>
          </a:solidFill>
          <a:ln>
            <a:noFill/>
          </a:ln>
          <a:effectLst/>
        </c:spPr>
      </c:pivotFmt>
      <c:pivotFmt>
        <c:idx val="69"/>
        <c:spPr>
          <a:solidFill>
            <a:srgbClr val="C00000"/>
          </a:solidFill>
          <a:ln>
            <a:noFill/>
          </a:ln>
          <a:effectLst/>
        </c:spPr>
      </c:pivotFmt>
      <c:pivotFmt>
        <c:idx val="7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1"/>
        <c:spPr>
          <a:solidFill>
            <a:schemeClr val="accent6"/>
          </a:solidFill>
          <a:ln>
            <a:noFill/>
          </a:ln>
          <a:effectLst/>
        </c:spPr>
      </c:pivotFmt>
      <c:pivotFmt>
        <c:idx val="72"/>
        <c:spPr>
          <a:solidFill>
            <a:schemeClr val="accent6"/>
          </a:solidFill>
          <a:ln>
            <a:noFill/>
          </a:ln>
          <a:effectLst/>
        </c:spPr>
      </c:pivotFmt>
      <c:pivotFmt>
        <c:idx val="73"/>
        <c:spPr>
          <a:solidFill>
            <a:schemeClr val="accent6"/>
          </a:solidFill>
          <a:ln>
            <a:noFill/>
          </a:ln>
          <a:effectLst/>
        </c:spPr>
      </c:pivotFmt>
      <c:pivotFmt>
        <c:idx val="74"/>
        <c:spPr>
          <a:solidFill>
            <a:schemeClr val="accent6"/>
          </a:solidFill>
          <a:ln>
            <a:noFill/>
          </a:ln>
          <a:effectLst/>
        </c:spPr>
      </c:pivotFmt>
      <c:pivotFmt>
        <c:idx val="75"/>
        <c:spPr>
          <a:solidFill>
            <a:schemeClr val="accent6"/>
          </a:solidFill>
          <a:ln>
            <a:noFill/>
          </a:ln>
          <a:effectLst/>
        </c:spPr>
      </c:pivotFmt>
      <c:pivotFmt>
        <c:idx val="76"/>
        <c:spPr>
          <a:solidFill>
            <a:srgbClr val="C00000"/>
          </a:solidFill>
          <a:ln>
            <a:noFill/>
          </a:ln>
          <a:effectLst/>
        </c:spPr>
      </c:pivotFmt>
      <c:pivotFmt>
        <c:idx val="77"/>
        <c:spPr>
          <a:solidFill>
            <a:srgbClr val="C00000"/>
          </a:solidFill>
          <a:ln>
            <a:noFill/>
          </a:ln>
          <a:effectLst/>
        </c:spPr>
      </c:pivotFmt>
      <c:pivotFmt>
        <c:idx val="78"/>
        <c:spPr>
          <a:solidFill>
            <a:srgbClr val="C00000"/>
          </a:solidFill>
          <a:ln>
            <a:noFill/>
          </a:ln>
          <a:effectLst/>
        </c:spPr>
      </c:pivotFmt>
      <c:pivotFmt>
        <c:idx val="79"/>
        <c:spPr>
          <a:solidFill>
            <a:srgbClr val="C00000"/>
          </a:solidFill>
          <a:ln>
            <a:noFill/>
          </a:ln>
          <a:effectLst/>
        </c:spPr>
      </c:pivotFmt>
      <c:pivotFmt>
        <c:idx val="80"/>
        <c:spPr>
          <a:solidFill>
            <a:srgbClr val="C00000"/>
          </a:solidFill>
          <a:ln>
            <a:noFill/>
          </a:ln>
          <a:effectLst/>
        </c:spPr>
      </c:pivotFmt>
    </c:pivotFmts>
    <c:plotArea>
      <c:layout>
        <c:manualLayout>
          <c:layoutTarget val="inner"/>
          <c:xMode val="edge"/>
          <c:yMode val="edge"/>
          <c:x val="0.210202250922225"/>
          <c:y val="0.12135346291280222"/>
          <c:w val="0.76204410404253853"/>
          <c:h val="0.83364293226612762"/>
        </c:manualLayout>
      </c:layout>
      <c:barChart>
        <c:barDir val="bar"/>
        <c:grouping val="clustered"/>
        <c:varyColors val="0"/>
        <c:ser>
          <c:idx val="0"/>
          <c:order val="0"/>
          <c:tx>
            <c:v>Total</c:v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423C-43FF-BA13-840FBCD29426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423C-43FF-BA13-840FBCD29426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423C-43FF-BA13-840FBCD29426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423C-43FF-BA13-840FBCD29426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423C-43FF-BA13-840FBCD29426}"/>
              </c:ext>
            </c:extLst>
          </c:dPt>
          <c:dPt>
            <c:idx val="5"/>
            <c:invertIfNegative val="0"/>
            <c:bubble3D val="0"/>
            <c:spPr>
              <a:solidFill>
                <a:srgbClr val="C0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423C-43FF-BA13-840FBCD29426}"/>
              </c:ext>
            </c:extLst>
          </c:dPt>
          <c:dPt>
            <c:idx val="6"/>
            <c:invertIfNegative val="0"/>
            <c:bubble3D val="0"/>
            <c:spPr>
              <a:solidFill>
                <a:srgbClr val="C0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423C-43FF-BA13-840FBCD29426}"/>
              </c:ext>
            </c:extLst>
          </c:dPt>
          <c:dPt>
            <c:idx val="7"/>
            <c:invertIfNegative val="0"/>
            <c:bubble3D val="0"/>
            <c:spPr>
              <a:solidFill>
                <a:srgbClr val="C0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423C-43FF-BA13-840FBCD29426}"/>
              </c:ext>
            </c:extLst>
          </c:dPt>
          <c:dPt>
            <c:idx val="8"/>
            <c:invertIfNegative val="0"/>
            <c:bubble3D val="0"/>
            <c:spPr>
              <a:solidFill>
                <a:srgbClr val="C0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423C-43FF-BA13-840FBCD29426}"/>
              </c:ext>
            </c:extLst>
          </c:dPt>
          <c:dPt>
            <c:idx val="9"/>
            <c:invertIfNegative val="0"/>
            <c:bubble3D val="0"/>
            <c:spPr>
              <a:solidFill>
                <a:srgbClr val="C0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423C-43FF-BA13-840FBCD29426}"/>
              </c:ext>
            </c:extLst>
          </c:dPt>
          <c:dPt>
            <c:idx val="1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4-423C-43FF-BA13-840FBCD29426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Lit>
              <c:ptCount val="10"/>
              <c:pt idx="0">
                <c:v>Inalsa Garment Steamer Fresh</c:v>
              </c:pt>
              <c:pt idx="1">
                <c:v>Inalsa Cordless Iron Freedom</c:v>
              </c:pt>
              <c:pt idx="2">
                <c:v>Inalsa Steam Iron Glide Pro</c:v>
              </c:pt>
              <c:pt idx="3">
                <c:v>Inalsa Dry Iron Classic</c:v>
              </c:pt>
              <c:pt idx="4">
                <c:v>Inalsa Epilator Smooth Glide</c:v>
              </c:pt>
              <c:pt idx="5">
                <c:v>Inalsa Tower Cooler Chill</c:v>
              </c:pt>
              <c:pt idx="6">
                <c:v>Inalsa Ceiling Fan Aerostorm</c:v>
              </c:pt>
              <c:pt idx="7">
                <c:v>Inalsa Water Heater Instant 3L</c:v>
              </c:pt>
              <c:pt idx="8">
                <c:v>Inalsa Room Heater Comfort</c:v>
              </c:pt>
              <c:pt idx="9">
                <c:v>Inalsa Air Purifier Pure Air</c:v>
              </c:pt>
            </c:strLit>
          </c:cat>
          <c:val>
            <c:numLit>
              <c:formatCode>General</c:formatCode>
              <c:ptCount val="10"/>
              <c:pt idx="0">
                <c:v>156218.38000000003</c:v>
              </c:pt>
              <c:pt idx="1">
                <c:v>168457.60999999993</c:v>
              </c:pt>
              <c:pt idx="2">
                <c:v>169537.58000000002</c:v>
              </c:pt>
              <c:pt idx="3">
                <c:v>177845.47999999989</c:v>
              </c:pt>
              <c:pt idx="4">
                <c:v>265515.86</c:v>
              </c:pt>
              <c:pt idx="5">
                <c:v>1635892.429999999</c:v>
              </c:pt>
              <c:pt idx="6">
                <c:v>1760066.1600000001</c:v>
              </c:pt>
              <c:pt idx="7">
                <c:v>1908181.4300000002</c:v>
              </c:pt>
              <c:pt idx="8">
                <c:v>1936170.45</c:v>
              </c:pt>
              <c:pt idx="9">
                <c:v>1985116.3800000008</c:v>
              </c:pt>
            </c:numLit>
          </c:val>
          <c:extLst>
            <c:ext xmlns:c16="http://schemas.microsoft.com/office/drawing/2014/chart" uri="{C3380CC4-5D6E-409C-BE32-E72D297353CC}">
              <c16:uniqueId val="{00000015-423C-43FF-BA13-840FBCD29426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axId val="1311544287"/>
        <c:axId val="1463934767"/>
      </c:barChart>
      <c:catAx>
        <c:axId val="1311544287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63934767"/>
        <c:crosses val="autoZero"/>
        <c:auto val="1"/>
        <c:lblAlgn val="ctr"/>
        <c:lblOffset val="100"/>
        <c:noMultiLvlLbl val="0"/>
      </c:catAx>
      <c:valAx>
        <c:axId val="1463934767"/>
        <c:scaling>
          <c:orientation val="minMax"/>
        </c:scaling>
        <c:delete val="1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sz="2000"/>
                  <a:t>Refund</a:t>
                </a:r>
                <a:r>
                  <a:rPr lang="en-IN" sz="2000" baseline="0"/>
                  <a:t> Amount</a:t>
                </a:r>
                <a:endParaRPr lang="en-IN" sz="2000"/>
              </a:p>
            </c:rich>
          </c:tx>
          <c:layout>
            <c:manualLayout>
              <c:xMode val="edge"/>
              <c:yMode val="edge"/>
              <c:x val="0.47664871815018151"/>
              <c:y val="0.90679157612986172"/>
            </c:manualLayout>
          </c:layout>
          <c:overlay val="0"/>
          <c:spPr>
            <a:noFill/>
            <a:ln>
              <a:noFill/>
            </a:ln>
            <a:effectLst/>
          </c:spPr>
        </c:title>
        <c:numFmt formatCode="General" sourceLinked="1"/>
        <c:majorTickMark val="out"/>
        <c:minorTickMark val="none"/>
        <c:tickLblPos val="nextTo"/>
        <c:crossAx val="1311544287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  <c:extLst/>
  </c:chart>
  <c:spPr>
    <a:ln>
      <a:solidFill>
        <a:schemeClr val="tx1"/>
      </a:solidFill>
    </a:ln>
  </c:spPr>
  <c:txPr>
    <a:bodyPr/>
    <a:lstStyle/>
    <a:p>
      <a:pPr>
        <a:defRPr/>
      </a:pPr>
      <a:endParaRPr lang="en-US"/>
    </a:p>
  </c:txPr>
  <c:externalData r:id="rId1">
    <c:autoUpdate val="0"/>
  </c:externalData>
  <c:userShapes r:id="rId2"/>
  <c:extLst/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 u="none"/>
              <a:t>Total</a:t>
            </a:r>
            <a:r>
              <a:rPr lang="en-US" b="1" u="none" baseline="0"/>
              <a:t> Tickets generated per Product Category</a:t>
            </a:r>
            <a:endParaRPr lang="en-US" b="1" u="none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5">
              <a:lumMod val="50000"/>
            </a:schemeClr>
          </a:solidFill>
          <a:ln>
            <a:solidFill>
              <a:schemeClr val="tx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5">
              <a:lumMod val="50000"/>
            </a:schemeClr>
          </a:solidFill>
          <a:ln>
            <a:solidFill>
              <a:schemeClr val="tx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5">
              <a:lumMod val="50000"/>
            </a:schemeClr>
          </a:solidFill>
          <a:ln>
            <a:solidFill>
              <a:schemeClr val="tx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5">
              <a:lumMod val="50000"/>
            </a:schemeClr>
          </a:solidFill>
          <a:ln>
            <a:solidFill>
              <a:schemeClr val="tx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bar"/>
        <c:grouping val="clustered"/>
        <c:varyColors val="0"/>
        <c:ser>
          <c:idx val="0"/>
          <c:order val="0"/>
          <c:tx>
            <c:v>Total</c:v>
          </c:tx>
          <c:spPr>
            <a:solidFill>
              <a:schemeClr val="accent5">
                <a:lumMod val="50000"/>
              </a:schemeClr>
            </a:solidFill>
            <a:ln>
              <a:solidFill>
                <a:schemeClr val="tx1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Lit>
              <c:ptCount val="8"/>
              <c:pt idx="0">
                <c:v>Kitchen Appliances</c:v>
              </c:pt>
              <c:pt idx="1">
                <c:v>Mixers &amp; Grinders</c:v>
              </c:pt>
              <c:pt idx="2">
                <c:v>Kettles &amp; Cookers</c:v>
              </c:pt>
              <c:pt idx="3">
                <c:v>Home Appliances</c:v>
              </c:pt>
              <c:pt idx="4">
                <c:v>Personal Care</c:v>
              </c:pt>
              <c:pt idx="5">
                <c:v>Air Coolers</c:v>
              </c:pt>
              <c:pt idx="6">
                <c:v>Irons</c:v>
              </c:pt>
              <c:pt idx="7">
                <c:v>Vacuum Cleaners</c:v>
              </c:pt>
            </c:strLit>
          </c:cat>
          <c:val>
            <c:numLit>
              <c:formatCode>General</c:formatCode>
              <c:ptCount val="8"/>
              <c:pt idx="0">
                <c:v>4859</c:v>
              </c:pt>
              <c:pt idx="1">
                <c:v>4588</c:v>
              </c:pt>
              <c:pt idx="2">
                <c:v>3789</c:v>
              </c:pt>
              <c:pt idx="3">
                <c:v>3753</c:v>
              </c:pt>
              <c:pt idx="4">
                <c:v>2532</c:v>
              </c:pt>
              <c:pt idx="5">
                <c:v>2457</c:v>
              </c:pt>
              <c:pt idx="6">
                <c:v>1753</c:v>
              </c:pt>
              <c:pt idx="7">
                <c:v>1269</c:v>
              </c:pt>
            </c:numLit>
          </c:val>
          <c:extLst>
            <c:ext xmlns:c16="http://schemas.microsoft.com/office/drawing/2014/chart" uri="{C3380CC4-5D6E-409C-BE32-E72D297353CC}">
              <c16:uniqueId val="{00000000-BAE9-4FCC-869C-9B4A6DBC4AE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1221847103"/>
        <c:axId val="1277487663"/>
      </c:barChart>
      <c:catAx>
        <c:axId val="1221847103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Product</a:t>
                </a:r>
                <a:r>
                  <a:rPr lang="en-IN" baseline="0"/>
                  <a:t> Category</a:t>
                </a:r>
                <a:endParaRPr lang="en-IN"/>
              </a:p>
            </c:rich>
          </c:tx>
          <c:layout>
            <c:manualLayout>
              <c:xMode val="edge"/>
              <c:yMode val="edge"/>
              <c:x val="1.9444444444444445E-2"/>
              <c:y val="0.30087197433654128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IN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77487663"/>
        <c:crosses val="autoZero"/>
        <c:auto val="1"/>
        <c:lblAlgn val="ctr"/>
        <c:lblOffset val="100"/>
        <c:noMultiLvlLbl val="0"/>
      </c:catAx>
      <c:valAx>
        <c:axId val="1277487663"/>
        <c:scaling>
          <c:orientation val="minMax"/>
        </c:scaling>
        <c:delete val="1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Total</a:t>
                </a:r>
                <a:r>
                  <a:rPr lang="en-IN" baseline="0"/>
                  <a:t> Tickets</a:t>
                </a:r>
              </a:p>
            </c:rich>
          </c:tx>
          <c:layout>
            <c:manualLayout>
              <c:xMode val="edge"/>
              <c:yMode val="edge"/>
              <c:x val="0.4973464566929135"/>
              <c:y val="0.88793963254593178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out"/>
        <c:minorTickMark val="none"/>
        <c:tickLblPos val="nextTo"/>
        <c:crossAx val="122184710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solidFill>
        <a:schemeClr val="tx1"/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/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/>
              <a:t>Total</a:t>
            </a:r>
            <a:r>
              <a:rPr lang="en-US" b="1" baseline="0"/>
              <a:t> Tickets per Issue Category</a:t>
            </a:r>
            <a:endParaRPr lang="en-US" b="1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bar"/>
        <c:grouping val="clustered"/>
        <c:varyColors val="0"/>
        <c:ser>
          <c:idx val="0"/>
          <c:order val="0"/>
          <c:tx>
            <c:v>Total</c:v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Lit>
              <c:ptCount val="9"/>
              <c:pt idx="0">
                <c:v>Other</c:v>
              </c:pt>
              <c:pt idx="1">
                <c:v>Size/Fit Mismatch</c:v>
              </c:pt>
              <c:pt idx="2">
                <c:v>Billing Issue</c:v>
              </c:pt>
              <c:pt idx="3">
                <c:v>Not as Described</c:v>
              </c:pt>
              <c:pt idx="4">
                <c:v>Wrong Item Delivered</c:v>
              </c:pt>
              <c:pt idx="5">
                <c:v>Warranty Claim</c:v>
              </c:pt>
              <c:pt idx="6">
                <c:v>Late Delivery</c:v>
              </c:pt>
              <c:pt idx="7">
                <c:v>Damaged in Transit</c:v>
              </c:pt>
              <c:pt idx="8">
                <c:v>Product Defect</c:v>
              </c:pt>
            </c:strLit>
          </c:cat>
          <c:val>
            <c:numLit>
              <c:formatCode>General</c:formatCode>
              <c:ptCount val="9"/>
              <c:pt idx="0">
                <c:v>1158</c:v>
              </c:pt>
              <c:pt idx="1">
                <c:v>1202</c:v>
              </c:pt>
              <c:pt idx="2">
                <c:v>1637</c:v>
              </c:pt>
              <c:pt idx="3">
                <c:v>1918</c:v>
              </c:pt>
              <c:pt idx="4">
                <c:v>2396</c:v>
              </c:pt>
              <c:pt idx="5">
                <c:v>3199</c:v>
              </c:pt>
              <c:pt idx="6">
                <c:v>3391</c:v>
              </c:pt>
              <c:pt idx="7">
                <c:v>3944</c:v>
              </c:pt>
              <c:pt idx="8">
                <c:v>6155</c:v>
              </c:pt>
            </c:numLit>
          </c:val>
          <c:extLst>
            <c:ext xmlns:c16="http://schemas.microsoft.com/office/drawing/2014/chart" uri="{C3380CC4-5D6E-409C-BE32-E72D297353CC}">
              <c16:uniqueId val="{00000000-B759-4338-965C-1C4A9A9FC6DC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1311531759"/>
        <c:axId val="1463966927"/>
      </c:barChart>
      <c:catAx>
        <c:axId val="1311531759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Product Issue</a:t>
                </a:r>
              </a:p>
            </c:rich>
          </c:tx>
          <c:layout>
            <c:manualLayout>
              <c:xMode val="edge"/>
              <c:yMode val="edge"/>
              <c:x val="2.5000000000000001E-2"/>
              <c:y val="0.342685185185185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63966927"/>
        <c:crosses val="autoZero"/>
        <c:auto val="1"/>
        <c:lblAlgn val="ctr"/>
        <c:lblOffset val="100"/>
        <c:noMultiLvlLbl val="0"/>
      </c:catAx>
      <c:valAx>
        <c:axId val="1463966927"/>
        <c:scaling>
          <c:orientation val="minMax"/>
        </c:scaling>
        <c:delete val="1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Total</a:t>
                </a:r>
                <a:r>
                  <a:rPr lang="en-IN" baseline="0"/>
                  <a:t> Ticket</a:t>
                </a:r>
              </a:p>
            </c:rich>
          </c:tx>
          <c:layout>
            <c:manualLayout>
              <c:xMode val="edge"/>
              <c:yMode val="edge"/>
              <c:x val="0.53452712160979876"/>
              <c:y val="0.9018285214348206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crossAx val="131153175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solidFill>
        <a:schemeClr val="tx1"/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/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Total Tickets per Channel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3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4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5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6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7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9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1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1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1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13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14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16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17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18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19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2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2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23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24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25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26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27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</c:pivotFmts>
    <c:plotArea>
      <c:layout/>
      <c:pieChart>
        <c:varyColors val="1"/>
        <c:ser>
          <c:idx val="0"/>
          <c:order val="0"/>
          <c:tx>
            <c:v>Total</c:v>
          </c:tx>
          <c:dPt>
            <c:idx val="0"/>
            <c:bubble3D val="0"/>
            <c:spPr>
              <a:gradFill rotWithShape="1">
                <a:gsLst>
                  <a:gs pos="0">
                    <a:schemeClr val="accent1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1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1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1167-4ECA-B383-70AD157051E6}"/>
              </c:ext>
            </c:extLst>
          </c:dPt>
          <c:dPt>
            <c:idx val="1"/>
            <c:bubble3D val="0"/>
            <c:spPr>
              <a:gradFill rotWithShape="1">
                <a:gsLst>
                  <a:gs pos="0">
                    <a:schemeClr val="accent2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2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2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1167-4ECA-B383-70AD157051E6}"/>
              </c:ext>
            </c:extLst>
          </c:dPt>
          <c:dPt>
            <c:idx val="2"/>
            <c:bubble3D val="0"/>
            <c:spPr>
              <a:gradFill rotWithShape="1">
                <a:gsLst>
                  <a:gs pos="0">
                    <a:schemeClr val="accent3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3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3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1167-4ECA-B383-70AD157051E6}"/>
              </c:ext>
            </c:extLst>
          </c:dPt>
          <c:dPt>
            <c:idx val="3"/>
            <c:bubble3D val="0"/>
            <c:spPr>
              <a:gradFill rotWithShape="1">
                <a:gsLst>
                  <a:gs pos="0">
                    <a:schemeClr val="accent4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4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4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7-1167-4ECA-B383-70AD157051E6}"/>
              </c:ext>
            </c:extLst>
          </c:dPt>
          <c:dPt>
            <c:idx val="4"/>
            <c:bubble3D val="0"/>
            <c:spPr>
              <a:gradFill rotWithShape="1">
                <a:gsLst>
                  <a:gs pos="0">
                    <a:schemeClr val="accent5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5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5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9-1167-4ECA-B383-70AD157051E6}"/>
              </c:ext>
            </c:extLst>
          </c:dPt>
          <c:dPt>
            <c:idx val="5"/>
            <c:bubble3D val="0"/>
            <c:spPr>
              <a:gradFill rotWithShape="1">
                <a:gsLst>
                  <a:gs pos="0">
                    <a:schemeClr val="accent6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6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6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B-1167-4ECA-B383-70AD157051E6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Lit>
              <c:ptCount val="6"/>
              <c:pt idx="0">
                <c:v>Store</c:v>
              </c:pt>
              <c:pt idx="1">
                <c:v>Email</c:v>
              </c:pt>
              <c:pt idx="2">
                <c:v>Marketplace</c:v>
              </c:pt>
              <c:pt idx="3">
                <c:v>Chat</c:v>
              </c:pt>
              <c:pt idx="4">
                <c:v>Phone</c:v>
              </c:pt>
              <c:pt idx="5">
                <c:v>WhatsApp</c:v>
              </c:pt>
            </c:strLit>
          </c:cat>
          <c:val>
            <c:numLit>
              <c:formatCode>General</c:formatCode>
              <c:ptCount val="6"/>
              <c:pt idx="0">
                <c:v>4.9200000000000001E-2</c:v>
              </c:pt>
              <c:pt idx="1">
                <c:v>0.15140000000000001</c:v>
              </c:pt>
              <c:pt idx="2">
                <c:v>0.16975999999999999</c:v>
              </c:pt>
              <c:pt idx="3">
                <c:v>0.18068000000000001</c:v>
              </c:pt>
              <c:pt idx="4">
                <c:v>0.2006</c:v>
              </c:pt>
              <c:pt idx="5">
                <c:v>0.24836</c:v>
              </c:pt>
            </c:numLit>
          </c:val>
          <c:extLst>
            <c:ext xmlns:c16="http://schemas.microsoft.com/office/drawing/2014/chart" uri="{C3380CC4-5D6E-409C-BE32-E72D297353CC}">
              <c16:uniqueId val="{0000000C-1167-4ECA-B383-70AD157051E6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solidFill>
        <a:schemeClr val="tx1"/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/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b="1"/>
              <a:t>Avg</a:t>
            </a:r>
            <a:r>
              <a:rPr lang="en-IN" b="1" baseline="0"/>
              <a:t> Response Time &amp; Resolution Time</a:t>
            </a:r>
            <a:endParaRPr lang="en-IN" b="1"/>
          </a:p>
        </c:rich>
      </c:tx>
      <c:layout>
        <c:manualLayout>
          <c:xMode val="edge"/>
          <c:yMode val="edge"/>
          <c:x val="2.4307537417554523E-2"/>
          <c:y val="2.839876789597553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2.8453372512542978E-2"/>
          <c:y val="0.20868361275559358"/>
          <c:w val="0.93919801531935287"/>
          <c:h val="0.62848113177661868"/>
        </c:manualLayout>
      </c:layout>
      <c:barChart>
        <c:barDir val="col"/>
        <c:grouping val="clustered"/>
        <c:varyColors val="0"/>
        <c:ser>
          <c:idx val="0"/>
          <c:order val="0"/>
          <c:tx>
            <c:v>Avg Response Time</c:v>
          </c:tx>
          <c:spPr>
            <a:solidFill>
              <a:schemeClr val="accent1">
                <a:shade val="76000"/>
              </a:schemeClr>
            </a:solidFill>
            <a:ln>
              <a:noFill/>
            </a:ln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Lit>
              <c:ptCount val="4"/>
              <c:pt idx="0">
                <c:v>Critical</c:v>
              </c:pt>
              <c:pt idx="1">
                <c:v>High</c:v>
              </c:pt>
              <c:pt idx="2">
                <c:v>Medium</c:v>
              </c:pt>
              <c:pt idx="3">
                <c:v>Low</c:v>
              </c:pt>
            </c:strLit>
          </c:cat>
          <c:val>
            <c:numLit>
              <c:formatCode>General</c:formatCode>
              <c:ptCount val="4"/>
              <c:pt idx="0">
                <c:v>3.6829798515376493</c:v>
              </c:pt>
              <c:pt idx="1">
                <c:v>5.6361852685750993</c:v>
              </c:pt>
              <c:pt idx="2">
                <c:v>9.3281968310645293</c:v>
              </c:pt>
              <c:pt idx="3">
                <c:v>12.93826569195862</c:v>
              </c:pt>
            </c:numLit>
          </c:val>
          <c:extLst>
            <c:ext xmlns:c16="http://schemas.microsoft.com/office/drawing/2014/chart" uri="{C3380CC4-5D6E-409C-BE32-E72D297353CC}">
              <c16:uniqueId val="{00000000-90CC-4639-A4B8-190689022F90}"/>
            </c:ext>
          </c:extLst>
        </c:ser>
        <c:ser>
          <c:idx val="1"/>
          <c:order val="1"/>
          <c:tx>
            <c:v>Avg Resolution Time</c:v>
          </c:tx>
          <c:spPr>
            <a:solidFill>
              <a:schemeClr val="accent1">
                <a:tint val="77000"/>
              </a:schemeClr>
            </a:solidFill>
            <a:ln>
              <a:noFill/>
            </a:ln>
            <a:effectLst/>
          </c:spPr>
          <c:invertIfNegative val="0"/>
          <c:dLbls>
            <c:dLbl>
              <c:idx val="2"/>
              <c:numFmt formatCode="0.0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2-90CC-4639-A4B8-190689022F90}"/>
                </c:ext>
              </c:extLst>
            </c:dLbl>
            <c:numFmt formatCode="0.0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Lit>
              <c:ptCount val="4"/>
              <c:pt idx="0">
                <c:v>Critical</c:v>
              </c:pt>
              <c:pt idx="1">
                <c:v>High</c:v>
              </c:pt>
              <c:pt idx="2">
                <c:v>Medium</c:v>
              </c:pt>
              <c:pt idx="3">
                <c:v>Low</c:v>
              </c:pt>
            </c:strLit>
          </c:cat>
          <c:val>
            <c:numLit>
              <c:formatCode>General</c:formatCode>
              <c:ptCount val="4"/>
              <c:pt idx="0">
                <c:v>33.796818663838849</c:v>
              </c:pt>
              <c:pt idx="1">
                <c:v>35.387359279511045</c:v>
              </c:pt>
              <c:pt idx="2">
                <c:v>39.242423566168291</c:v>
              </c:pt>
              <c:pt idx="3">
                <c:v>42.753718174943188</c:v>
              </c:pt>
            </c:numLit>
          </c:val>
          <c:extLst>
            <c:ext xmlns:c16="http://schemas.microsoft.com/office/drawing/2014/chart" uri="{C3380CC4-5D6E-409C-BE32-E72D297353CC}">
              <c16:uniqueId val="{00000001-90CC-4639-A4B8-190689022F9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233121439"/>
        <c:axId val="1277466543"/>
      </c:barChart>
      <c:catAx>
        <c:axId val="1233121439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Priority</a:t>
                </a:r>
                <a:r>
                  <a:rPr lang="en-IN" baseline="0"/>
                  <a:t> Class</a:t>
                </a:r>
                <a:endParaRPr lang="en-IN"/>
              </a:p>
            </c:rich>
          </c:tx>
          <c:layout>
            <c:manualLayout>
              <c:xMode val="edge"/>
              <c:yMode val="edge"/>
              <c:x val="0.41783112069451495"/>
              <c:y val="0.90910009074934361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I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77466543"/>
        <c:crosses val="autoZero"/>
        <c:auto val="1"/>
        <c:lblAlgn val="ctr"/>
        <c:lblOffset val="100"/>
        <c:noMultiLvlLbl val="0"/>
      </c:catAx>
      <c:valAx>
        <c:axId val="1277466543"/>
        <c:scaling>
          <c:orientation val="minMax"/>
          <c:max val="45"/>
          <c:min val="0"/>
        </c:scaling>
        <c:delete val="1"/>
        <c:axPos val="l"/>
        <c:numFmt formatCode="0" sourceLinked="0"/>
        <c:majorTickMark val="none"/>
        <c:minorTickMark val="none"/>
        <c:tickLblPos val="nextTo"/>
        <c:crossAx val="1233121439"/>
        <c:crosses val="autoZero"/>
        <c:crossBetween val="between"/>
      </c:valAx>
      <c:spPr>
        <a:noFill/>
        <a:ln w="25400">
          <a:noFill/>
        </a:ln>
        <a:effectLst/>
      </c:spPr>
    </c:plotArea>
    <c:legend>
      <c:legendPos val="r"/>
      <c:layout>
        <c:manualLayout>
          <c:xMode val="edge"/>
          <c:yMode val="edge"/>
          <c:x val="0.74356225160662948"/>
          <c:y val="2.3638061057350983E-2"/>
          <c:w val="0.25328218367720839"/>
          <c:h val="0.11714603563262725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solidFill>
        <a:schemeClr val="tx1"/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/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/>
              <a:t>Tickets</a:t>
            </a:r>
            <a:r>
              <a:rPr lang="en-US" b="1" baseline="0"/>
              <a:t> Generated per Turnaround Day Group</a:t>
            </a:r>
            <a:endParaRPr lang="en-US" b="1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19050">
            <a:solidFill>
              <a:schemeClr val="tx1"/>
            </a:solidFill>
          </a:ln>
          <a:effectLst>
            <a:softEdge rad="0"/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19050">
            <a:solidFill>
              <a:schemeClr val="tx1"/>
            </a:solidFill>
          </a:ln>
          <a:effectLst>
            <a:softEdge rad="0"/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19050">
            <a:solidFill>
              <a:schemeClr val="tx1"/>
            </a:solidFill>
          </a:ln>
          <a:effectLst>
            <a:softEdge rad="0"/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19050">
            <a:solidFill>
              <a:schemeClr val="tx1"/>
            </a:solidFill>
          </a:ln>
          <a:effectLst>
            <a:softEdge rad="0"/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areaChart>
        <c:grouping val="standard"/>
        <c:varyColors val="0"/>
        <c:ser>
          <c:idx val="0"/>
          <c:order val="0"/>
          <c:tx>
            <c:v>Total</c:v>
          </c:tx>
          <c:spPr>
            <a:solidFill>
              <a:schemeClr val="accent1"/>
            </a:solidFill>
            <a:ln w="19050">
              <a:solidFill>
                <a:schemeClr val="tx1"/>
              </a:solidFill>
            </a:ln>
            <a:effectLst>
              <a:softEdge rad="0"/>
            </a:effectLst>
          </c:spPr>
          <c:cat>
            <c:strLit>
              <c:ptCount val="9"/>
              <c:pt idx="0">
                <c:v>0-4</c:v>
              </c:pt>
              <c:pt idx="1">
                <c:v>5-9</c:v>
              </c:pt>
              <c:pt idx="2">
                <c:v>10-14</c:v>
              </c:pt>
              <c:pt idx="3">
                <c:v>15-19</c:v>
              </c:pt>
              <c:pt idx="4">
                <c:v>20-24</c:v>
              </c:pt>
              <c:pt idx="5">
                <c:v>25-29</c:v>
              </c:pt>
              <c:pt idx="6">
                <c:v>30-34</c:v>
              </c:pt>
              <c:pt idx="7">
                <c:v>35-39</c:v>
              </c:pt>
              <c:pt idx="8">
                <c:v>40-45</c:v>
              </c:pt>
            </c:strLit>
          </c:cat>
          <c:val>
            <c:numLit>
              <c:formatCode>General</c:formatCode>
              <c:ptCount val="9"/>
              <c:pt idx="0">
                <c:v>11714</c:v>
              </c:pt>
              <c:pt idx="1">
                <c:v>6230</c:v>
              </c:pt>
              <c:pt idx="2">
                <c:v>3339</c:v>
              </c:pt>
              <c:pt idx="3">
                <c:v>1732</c:v>
              </c:pt>
              <c:pt idx="4">
                <c:v>941</c:v>
              </c:pt>
              <c:pt idx="5">
                <c:v>516</c:v>
              </c:pt>
              <c:pt idx="6">
                <c:v>229</c:v>
              </c:pt>
              <c:pt idx="7">
                <c:v>143</c:v>
              </c:pt>
              <c:pt idx="8">
                <c:v>156</c:v>
              </c:pt>
            </c:numLit>
          </c:val>
          <c:extLst>
            <c:ext xmlns:c16="http://schemas.microsoft.com/office/drawing/2014/chart" uri="{C3380CC4-5D6E-409C-BE32-E72D297353CC}">
              <c16:uniqueId val="{00000000-BDB9-49E0-A287-C63D6B16746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325289807"/>
        <c:axId val="1277440143"/>
      </c:areaChart>
      <c:catAx>
        <c:axId val="1325289807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Turn-Around</a:t>
                </a:r>
                <a:r>
                  <a:rPr lang="en-IN" baseline="0"/>
                  <a:t> Days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77440143"/>
        <c:crosses val="autoZero"/>
        <c:auto val="1"/>
        <c:lblAlgn val="ctr"/>
        <c:lblOffset val="100"/>
        <c:noMultiLvlLbl val="0"/>
      </c:catAx>
      <c:valAx>
        <c:axId val="1277440143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Total</a:t>
                </a:r>
                <a:r>
                  <a:rPr lang="en-IN" baseline="0"/>
                  <a:t> Tickets</a:t>
                </a:r>
                <a:endParaRPr lang="en-IN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I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25289807"/>
        <c:crosses val="autoZero"/>
        <c:crossBetween val="midCat"/>
      </c:valAx>
      <c:spPr>
        <a:noFill/>
        <a:ln w="25400">
          <a:noFill/>
        </a:ln>
        <a:effectLst/>
      </c:spPr>
    </c:plotArea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solidFill>
        <a:schemeClr val="tx1"/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/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[New Dashboard.xlsx]Pivot Tables!PivotTable7</c:name>
    <c:fmtId val="120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/>
              <a:t>Region wise monthly Tickets</a:t>
            </a:r>
          </a:p>
        </c:rich>
      </c:tx>
      <c:layout>
        <c:manualLayout>
          <c:xMode val="edge"/>
          <c:yMode val="edge"/>
          <c:x val="0.1379169801052926"/>
          <c:y val="2.7827972005498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17977331093937093"/>
          <c:y val="0.1720232469473226"/>
          <c:w val="0.72067801221990824"/>
          <c:h val="0.62203442195970271"/>
        </c:manualLayout>
      </c:layout>
      <c:lineChart>
        <c:grouping val="standard"/>
        <c:varyColors val="0"/>
        <c:ser>
          <c:idx val="0"/>
          <c:order val="0"/>
          <c:tx>
            <c:strRef>
              <c:f>'Pivot Tables'!$K$1:$K$2</c:f>
              <c:strCache>
                <c:ptCount val="1"/>
                <c:pt idx="0">
                  <c:v>Central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'Pivot Tables'!$J$3:$J$15</c:f>
              <c:strCach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strCache>
            </c:strRef>
          </c:cat>
          <c:val>
            <c:numRef>
              <c:f>'Pivot Tables'!$K$3:$K$15</c:f>
              <c:numCache>
                <c:formatCode>General</c:formatCode>
                <c:ptCount val="12"/>
                <c:pt idx="0">
                  <c:v>156</c:v>
                </c:pt>
                <c:pt idx="1">
                  <c:v>166</c:v>
                </c:pt>
                <c:pt idx="2">
                  <c:v>163</c:v>
                </c:pt>
                <c:pt idx="3">
                  <c:v>165</c:v>
                </c:pt>
                <c:pt idx="4">
                  <c:v>164</c:v>
                </c:pt>
                <c:pt idx="5">
                  <c:v>141</c:v>
                </c:pt>
                <c:pt idx="6">
                  <c:v>171</c:v>
                </c:pt>
                <c:pt idx="7">
                  <c:v>149</c:v>
                </c:pt>
                <c:pt idx="8">
                  <c:v>152</c:v>
                </c:pt>
                <c:pt idx="9">
                  <c:v>175</c:v>
                </c:pt>
                <c:pt idx="10">
                  <c:v>183</c:v>
                </c:pt>
                <c:pt idx="11">
                  <c:v>166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35A-4B7A-A2AD-B0403E93D6C3}"/>
            </c:ext>
          </c:extLst>
        </c:ser>
        <c:ser>
          <c:idx val="1"/>
          <c:order val="1"/>
          <c:tx>
            <c:strRef>
              <c:f>'Pivot Tables'!$L$1:$L$2</c:f>
              <c:strCache>
                <c:ptCount val="1"/>
                <c:pt idx="0">
                  <c:v>East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'Pivot Tables'!$J$3:$J$15</c:f>
              <c:strCach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strCache>
            </c:strRef>
          </c:cat>
          <c:val>
            <c:numRef>
              <c:f>'Pivot Tables'!$L$3:$L$15</c:f>
              <c:numCache>
                <c:formatCode>General</c:formatCode>
                <c:ptCount val="12"/>
                <c:pt idx="0">
                  <c:v>276</c:v>
                </c:pt>
                <c:pt idx="1">
                  <c:v>226</c:v>
                </c:pt>
                <c:pt idx="2">
                  <c:v>264</c:v>
                </c:pt>
                <c:pt idx="3">
                  <c:v>295</c:v>
                </c:pt>
                <c:pt idx="4">
                  <c:v>298</c:v>
                </c:pt>
                <c:pt idx="5">
                  <c:v>247</c:v>
                </c:pt>
                <c:pt idx="6">
                  <c:v>305</c:v>
                </c:pt>
                <c:pt idx="7">
                  <c:v>239</c:v>
                </c:pt>
                <c:pt idx="8">
                  <c:v>254</c:v>
                </c:pt>
                <c:pt idx="9">
                  <c:v>267</c:v>
                </c:pt>
                <c:pt idx="10">
                  <c:v>254</c:v>
                </c:pt>
                <c:pt idx="11">
                  <c:v>264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35A-4B7A-A2AD-B0403E93D6C3}"/>
            </c:ext>
          </c:extLst>
        </c:ser>
        <c:ser>
          <c:idx val="2"/>
          <c:order val="2"/>
          <c:tx>
            <c:strRef>
              <c:f>'Pivot Tables'!$M$1:$M$2</c:f>
              <c:strCache>
                <c:ptCount val="1"/>
                <c:pt idx="0">
                  <c:v>North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'Pivot Tables'!$J$3:$J$15</c:f>
              <c:strCach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strCache>
            </c:strRef>
          </c:cat>
          <c:val>
            <c:numRef>
              <c:f>'Pivot Tables'!$M$3:$M$15</c:f>
              <c:numCache>
                <c:formatCode>General</c:formatCode>
                <c:ptCount val="12"/>
                <c:pt idx="0">
                  <c:v>588</c:v>
                </c:pt>
                <c:pt idx="1">
                  <c:v>551</c:v>
                </c:pt>
                <c:pt idx="2">
                  <c:v>591</c:v>
                </c:pt>
                <c:pt idx="3">
                  <c:v>544</c:v>
                </c:pt>
                <c:pt idx="4">
                  <c:v>621</c:v>
                </c:pt>
                <c:pt idx="5">
                  <c:v>556</c:v>
                </c:pt>
                <c:pt idx="6">
                  <c:v>677</c:v>
                </c:pt>
                <c:pt idx="7">
                  <c:v>526</c:v>
                </c:pt>
                <c:pt idx="8">
                  <c:v>542</c:v>
                </c:pt>
                <c:pt idx="9">
                  <c:v>596</c:v>
                </c:pt>
                <c:pt idx="10">
                  <c:v>545</c:v>
                </c:pt>
                <c:pt idx="11">
                  <c:v>592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835A-4B7A-A2AD-B0403E93D6C3}"/>
            </c:ext>
          </c:extLst>
        </c:ser>
        <c:ser>
          <c:idx val="3"/>
          <c:order val="3"/>
          <c:tx>
            <c:strRef>
              <c:f>'Pivot Tables'!$N$1:$N$2</c:f>
              <c:strCache>
                <c:ptCount val="1"/>
                <c:pt idx="0">
                  <c:v>South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strRef>
              <c:f>'Pivot Tables'!$J$3:$J$15</c:f>
              <c:strCach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strCache>
            </c:strRef>
          </c:cat>
          <c:val>
            <c:numRef>
              <c:f>'Pivot Tables'!$N$3:$N$15</c:f>
              <c:numCache>
                <c:formatCode>General</c:formatCode>
                <c:ptCount val="12"/>
                <c:pt idx="0">
                  <c:v>567</c:v>
                </c:pt>
                <c:pt idx="1">
                  <c:v>528</c:v>
                </c:pt>
                <c:pt idx="2">
                  <c:v>564</c:v>
                </c:pt>
                <c:pt idx="3">
                  <c:v>544</c:v>
                </c:pt>
                <c:pt idx="4">
                  <c:v>599</c:v>
                </c:pt>
                <c:pt idx="5">
                  <c:v>567</c:v>
                </c:pt>
                <c:pt idx="6">
                  <c:v>578</c:v>
                </c:pt>
                <c:pt idx="7">
                  <c:v>514</c:v>
                </c:pt>
                <c:pt idx="8">
                  <c:v>577</c:v>
                </c:pt>
                <c:pt idx="9">
                  <c:v>615</c:v>
                </c:pt>
                <c:pt idx="10">
                  <c:v>548</c:v>
                </c:pt>
                <c:pt idx="11">
                  <c:v>573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835A-4B7A-A2AD-B0403E93D6C3}"/>
            </c:ext>
          </c:extLst>
        </c:ser>
        <c:ser>
          <c:idx val="4"/>
          <c:order val="4"/>
          <c:tx>
            <c:strRef>
              <c:f>'Pivot Tables'!$O$1:$O$2</c:f>
              <c:strCache>
                <c:ptCount val="1"/>
                <c:pt idx="0">
                  <c:v>West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cat>
            <c:strRef>
              <c:f>'Pivot Tables'!$J$3:$J$15</c:f>
              <c:strCach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strCache>
            </c:strRef>
          </c:cat>
          <c:val>
            <c:numRef>
              <c:f>'Pivot Tables'!$O$3:$O$15</c:f>
              <c:numCache>
                <c:formatCode>General</c:formatCode>
                <c:ptCount val="12"/>
                <c:pt idx="0">
                  <c:v>478</c:v>
                </c:pt>
                <c:pt idx="1">
                  <c:v>455</c:v>
                </c:pt>
                <c:pt idx="2">
                  <c:v>543</c:v>
                </c:pt>
                <c:pt idx="3">
                  <c:v>530</c:v>
                </c:pt>
                <c:pt idx="4">
                  <c:v>496</c:v>
                </c:pt>
                <c:pt idx="5">
                  <c:v>475</c:v>
                </c:pt>
                <c:pt idx="6">
                  <c:v>480</c:v>
                </c:pt>
                <c:pt idx="7">
                  <c:v>471</c:v>
                </c:pt>
                <c:pt idx="8">
                  <c:v>509</c:v>
                </c:pt>
                <c:pt idx="9">
                  <c:v>527</c:v>
                </c:pt>
                <c:pt idx="10">
                  <c:v>467</c:v>
                </c:pt>
                <c:pt idx="11">
                  <c:v>476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835A-4B7A-A2AD-B0403E93D6C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09589775"/>
        <c:axId val="237052399"/>
      </c:lineChart>
      <c:catAx>
        <c:axId val="409589775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Months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37052399"/>
        <c:crosses val="autoZero"/>
        <c:auto val="1"/>
        <c:lblAlgn val="ctr"/>
        <c:lblOffset val="100"/>
        <c:noMultiLvlLbl val="0"/>
      </c:catAx>
      <c:valAx>
        <c:axId val="237052399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Ticket</a:t>
                </a:r>
                <a:r>
                  <a:rPr lang="en-IN" baseline="0"/>
                  <a:t> Count</a:t>
                </a:r>
                <a:endParaRPr lang="en-IN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I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0958977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77755207350502231"/>
          <c:y val="2.6262009486343812E-2"/>
          <c:w val="0.20437450742817523"/>
          <c:h val="0.25683173060770159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solidFill>
        <a:schemeClr val="tx1"/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/>
              <a:t>Monthly</a:t>
            </a:r>
            <a:r>
              <a:rPr lang="en-US" b="1" baseline="0"/>
              <a:t> Tickets Created</a:t>
            </a:r>
            <a:endParaRPr lang="en-US" b="1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v>Total</c:v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strLit>
              <c:ptCount val="12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  <c:pt idx="8">
                <c:v>9</c:v>
              </c:pt>
              <c:pt idx="9">
                <c:v>10</c:v>
              </c:pt>
              <c:pt idx="10">
                <c:v>11</c:v>
              </c:pt>
              <c:pt idx="11">
                <c:v>12</c:v>
              </c:pt>
            </c:strLit>
          </c:cat>
          <c:val>
            <c:numLit>
              <c:formatCode>General</c:formatCode>
              <c:ptCount val="12"/>
              <c:pt idx="0">
                <c:v>2083</c:v>
              </c:pt>
              <c:pt idx="1">
                <c:v>1946</c:v>
              </c:pt>
              <c:pt idx="2">
                <c:v>2153</c:v>
              </c:pt>
              <c:pt idx="3">
                <c:v>2092</c:v>
              </c:pt>
              <c:pt idx="4">
                <c:v>2198</c:v>
              </c:pt>
              <c:pt idx="5">
                <c:v>2010</c:v>
              </c:pt>
              <c:pt idx="6">
                <c:v>2240</c:v>
              </c:pt>
              <c:pt idx="7">
                <c:v>1918</c:v>
              </c:pt>
              <c:pt idx="8">
                <c:v>2054</c:v>
              </c:pt>
              <c:pt idx="9">
                <c:v>2200</c:v>
              </c:pt>
              <c:pt idx="10">
                <c:v>2012</c:v>
              </c:pt>
              <c:pt idx="11">
                <c:v>2094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0-E98C-49B5-A405-9F95041EEE0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426560639"/>
        <c:axId val="1277462703"/>
      </c:lineChart>
      <c:catAx>
        <c:axId val="1426560639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Month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77462703"/>
        <c:crosses val="autoZero"/>
        <c:auto val="1"/>
        <c:lblAlgn val="ctr"/>
        <c:lblOffset val="100"/>
        <c:noMultiLvlLbl val="0"/>
      </c:catAx>
      <c:valAx>
        <c:axId val="1277462703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Total</a:t>
                </a:r>
                <a:r>
                  <a:rPr lang="en-IN" baseline="0"/>
                  <a:t> Tickets</a:t>
                </a:r>
                <a:endParaRPr lang="en-IN"/>
              </a:p>
            </c:rich>
          </c:tx>
          <c:layout>
            <c:manualLayout>
              <c:xMode val="edge"/>
              <c:yMode val="edge"/>
              <c:x val="2.2222222222222223E-2"/>
              <c:y val="0.34180956547098279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I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2656063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solidFill>
        <a:schemeClr val="tx1"/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/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344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0.45348</cdr:x>
      <cdr:y>0.41958</cdr:y>
    </cdr:from>
    <cdr:to>
      <cdr:x>0.54652</cdr:x>
      <cdr:y>0.57632</cdr:y>
    </cdr:to>
    <cdr:sp macro="" textlink="">
      <cdr:nvSpPr>
        <cdr:cNvPr id="2" name="TextBox 1">
          <a:extLst xmlns:a="http://schemas.openxmlformats.org/drawingml/2006/main">
            <a:ext uri="{FF2B5EF4-FFF2-40B4-BE49-F238E27FC236}">
              <a16:creationId xmlns:a16="http://schemas.microsoft.com/office/drawing/2014/main" id="{928BA269-3D62-4A85-66E2-7DA036C7D5FC}"/>
            </a:ext>
          </a:extLst>
        </cdr:cNvPr>
        <cdr:cNvSpPr txBox="1"/>
      </cdr:nvSpPr>
      <cdr:spPr>
        <a:xfrm xmlns:a="http://schemas.openxmlformats.org/drawingml/2006/main">
          <a:off x="4900147" y="2009063"/>
          <a:ext cx="1005357" cy="750520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endParaRPr lang="en-IN" sz="1100" kern="1200"/>
        </a:p>
      </cdr:txBody>
    </cdr:sp>
  </cdr:relSizeAnchor>
</c:userShap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7A88B-A90E-3153-4EA6-023C8A3DA2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5F3B86-9189-0ACF-1371-D9A2958FA5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69B49A-790B-3F99-3006-06E0A763E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DDB34-35FD-4B65-9FBB-ED8EB58B9F41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E187E6-3C9D-43E0-F63A-CE31A3DD88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D9F7ED-CCE8-A77A-10EB-AB87A5EAE1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55FEB-850C-468F-82EE-98D132FC98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20569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5FBDE5-4683-B54E-4303-02B77F861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D30A50-F056-4960-C5F3-D55884030E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F789C9-2D22-A360-CAD7-5BC3B108B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DDB34-35FD-4B65-9FBB-ED8EB58B9F41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5383E8-C158-7EC2-1CDA-9AAAC57B8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F4A13A-5CCB-BE3E-E493-66D47C97FF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55FEB-850C-468F-82EE-98D132FC98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02644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A1E43-E67A-4EB9-CFD4-64DB002269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42F6A5-9999-1C40-471E-3F0CFD4533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A8A45C-92D4-EE0F-FA6B-E2E378460E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DDB34-35FD-4B65-9FBB-ED8EB58B9F41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CB6265-59C8-256C-622E-3099D246DA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61F477-DC37-A76C-4559-E48E84DE5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55FEB-850C-468F-82EE-98D132FC98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04253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C461C-AB1F-9EE2-5347-50FE13E6A8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70912C-8883-8994-41CE-F9492DF5F1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4A69CC-B150-E278-8FAF-12E2351645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38A8E6-46C2-943C-E4C0-2320C81829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DDB34-35FD-4B65-9FBB-ED8EB58B9F41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9C87E7-1529-A43B-3492-3B4DB33FD5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2122F8-0E73-B0F0-07E4-473103BC8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55FEB-850C-468F-82EE-98D132FC98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19697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C39F2-9B24-6EDB-656D-D59C56EC2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BE6358-47D7-00B4-12C0-C39F093863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6F451B-FE7C-F600-2E6A-121E73129A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750803F-FCEB-CE64-062A-25847AD229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F8B9773-BF68-B41C-1D7F-374CF70CA3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0CCC1E3-7656-F59E-BE54-0CDE660328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DDB34-35FD-4B65-9FBB-ED8EB58B9F41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8A6DF4-5EE4-60C0-84F0-E0EF24D9B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07AE81A-D064-7195-5B18-21FFEB2B47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55FEB-850C-468F-82EE-98D132FC98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07772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2B2FB5-517B-6D2B-7BD5-7D9F450174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E81DFCA-2F66-769A-50A6-203DFF111E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DDB34-35FD-4B65-9FBB-ED8EB58B9F41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A6E87B-9120-7972-3446-3B13CBE871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DE9D40-083D-E04A-179A-F6AE2DDF9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55FEB-850C-468F-82EE-98D132FC98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29376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0B49B59-946A-D64F-32C0-D0CCE1C096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DDB34-35FD-4B65-9FBB-ED8EB58B9F41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8C27FA-AAA5-B3F6-8AA4-2A1EB19A0D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4C1114-2564-7F20-1784-EA32C92F4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55FEB-850C-468F-82EE-98D132FC98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11898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E4992-BD87-0081-CB17-00E8489C5D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A75A87-C962-E43E-ED1B-AECE817D24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80ECC9-ACF3-A583-EDF1-1EEDBDC6E4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E258E-D803-C59C-2D91-D0FC62F0FD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DDB34-35FD-4B65-9FBB-ED8EB58B9F41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652F46-29F4-A5B8-82BE-61E2924E48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372ED5-0AD7-3EE4-F311-5B012BDFA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55FEB-850C-468F-82EE-98D132FC98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12208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80657-A818-494B-01B8-8059235C0E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6D1DA63-4EF3-1954-1E0B-7055056F40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66C01F-1E66-6A88-97D0-17AD2614CF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2C3C59-9469-DDBD-D393-302295701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DDB34-35FD-4B65-9FBB-ED8EB58B9F41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148A93-0902-56AE-B598-A0A6B44E34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DA3720-D29D-DB1D-4A5B-F00EADD1F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55FEB-850C-468F-82EE-98D132FC98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98324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EBEF9-CF7F-85DF-F92C-306CB78DC5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2B7AA7-AB55-242F-D948-45C7A59450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E96F5C-5EAC-E977-7439-31FDDD7BC3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DDB34-35FD-4B65-9FBB-ED8EB58B9F41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7B5B2F-0973-AE6D-5B34-0E0A13FA8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C2B576-8735-7DC2-F74E-7BCBF14EA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55FEB-850C-468F-82EE-98D132FC98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46070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B44563A-02DD-EDFC-4B58-1F14813AA6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8F805D-C7D5-2428-B386-B3F3DA8734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D9B011-AE15-7155-B6FE-1C01DDF48A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DDB34-35FD-4B65-9FBB-ED8EB58B9F41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EF53DF-6EEB-9E12-5EC5-0A99C0532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3C7564-0549-5CBB-EF55-5E12C8D4F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55FEB-850C-468F-82EE-98D132FC98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13438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5202152-589A-B7CD-FC5F-0F16660090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362481-B03B-B48E-9D13-DEAA5BA260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0DE995-56CF-92B3-E8C3-48DF45CDBC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9DDB34-35FD-4B65-9FBB-ED8EB58B9F41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A8594-F9AD-AA2E-37F6-E4C0616D9D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9F16D1-E751-C335-A0F3-756031225C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855FEB-850C-468F-82EE-98D132FC98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21704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6910592-5FC2-FADC-6B18-B2CFC738D573}"/>
              </a:ext>
            </a:extLst>
          </p:cNvPr>
          <p:cNvSpPr/>
          <p:nvPr/>
        </p:nvSpPr>
        <p:spPr>
          <a:xfrm>
            <a:off x="1192829" y="467975"/>
            <a:ext cx="9806342" cy="2585323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Customer Support Operational </a:t>
            </a:r>
          </a:p>
          <a:p>
            <a:pPr algn="ctr"/>
            <a:r>
              <a:rPr lang="en-US" sz="5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Performance &amp; Refund</a:t>
            </a:r>
          </a:p>
          <a:p>
            <a:pPr algn="ctr"/>
            <a:r>
              <a:rPr lang="en-US" sz="5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Optimization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AA6D32C-39D3-A943-C546-99D7BA3DCA76}"/>
              </a:ext>
            </a:extLst>
          </p:cNvPr>
          <p:cNvSpPr txBox="1"/>
          <p:nvPr/>
        </p:nvSpPr>
        <p:spPr>
          <a:xfrm>
            <a:off x="1192829" y="3429000"/>
            <a:ext cx="59232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Analyzing customer support ticket operations &amp; Finding out the primary drivers for customer dissatisfaction.</a:t>
            </a:r>
            <a:endParaRPr lang="en-IN" sz="2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6291338-8EE9-1300-F42D-234AAF3BE9A1}"/>
              </a:ext>
            </a:extLst>
          </p:cNvPr>
          <p:cNvSpPr txBox="1"/>
          <p:nvPr/>
        </p:nvSpPr>
        <p:spPr>
          <a:xfrm>
            <a:off x="7579359" y="5594311"/>
            <a:ext cx="34198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/>
              <a:t>Presented by Divyam Raj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5503617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BCFFEA-2C0F-18FC-A649-DE71576653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Business Problem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1E4FF8-8059-1D20-FB13-4AC9CED185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Customer support operations are experiencing high ticket volume across multiple communication channels.</a:t>
            </a:r>
          </a:p>
          <a:p>
            <a:r>
              <a:rPr lang="en-US" dirty="0"/>
              <a:t>This is leading to delayed resolution and increased customer friction. </a:t>
            </a:r>
          </a:p>
          <a:p>
            <a:r>
              <a:rPr lang="en-US" dirty="0"/>
              <a:t>As a result, millions in revenue are being lost to product refund causing challenges to the company.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170869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8362D6-F4E8-1186-DE6E-0A648A1A1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Key Goals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74EAEF-6172-DC50-C3B1-2A817054C6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Determine primary drivers for customer grievances.</a:t>
            </a:r>
          </a:p>
          <a:p>
            <a:r>
              <a:rPr lang="en-IN" dirty="0"/>
              <a:t>Optimize support operations.</a:t>
            </a:r>
          </a:p>
          <a:p>
            <a:r>
              <a:rPr lang="en-US" dirty="0"/>
              <a:t>Measure financial Impact on revenue due to refunds</a:t>
            </a:r>
          </a:p>
          <a:p>
            <a:r>
              <a:rPr lang="en-US" dirty="0"/>
              <a:t>Contrast high refund product lines against low refund items.</a:t>
            </a:r>
          </a:p>
          <a:p>
            <a:r>
              <a:rPr lang="en-US" dirty="0"/>
              <a:t>Determine which channel have more traffic for tickets generation.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522250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DCE17-D4D6-7029-B5D6-A61DEFBF4C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Key areas of analysis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D51B0E-28DA-6F04-309A-D02895DA66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Customer behaviour analysis</a:t>
            </a:r>
          </a:p>
          <a:p>
            <a:r>
              <a:rPr lang="en-IN" dirty="0"/>
              <a:t>Root cause categorization</a:t>
            </a:r>
          </a:p>
          <a:p>
            <a:r>
              <a:rPr lang="en-IN" dirty="0"/>
              <a:t>Channel intake and volume</a:t>
            </a:r>
          </a:p>
          <a:p>
            <a:r>
              <a:rPr lang="en-IN" dirty="0"/>
              <a:t>Categorized refund analysis</a:t>
            </a:r>
          </a:p>
          <a:p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41273758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E6A812-3B37-1988-8AE1-95598F78D5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KPIs and Refunds</a:t>
            </a:r>
            <a:endParaRPr lang="en-IN" b="1" dirty="0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ED1341E4-CE20-49CD-9196-3798A084814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65658256"/>
              </p:ext>
            </p:extLst>
          </p:nvPr>
        </p:nvGraphicFramePr>
        <p:xfrm>
          <a:off x="838200" y="1579274"/>
          <a:ext cx="7560466" cy="436924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45CD3BF-9977-4363-B7FC-401CB83D3805}"/>
              </a:ext>
            </a:extLst>
          </p:cNvPr>
          <p:cNvSpPr/>
          <p:nvPr/>
        </p:nvSpPr>
        <p:spPr>
          <a:xfrm>
            <a:off x="8803457" y="5284072"/>
            <a:ext cx="2160156" cy="664444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800"/>
              <a:t>38.98</a:t>
            </a:r>
            <a:r>
              <a:rPr lang="en-IN" sz="1800" baseline="0"/>
              <a:t> H</a:t>
            </a:r>
            <a:endParaRPr lang="en-IN" sz="1800"/>
          </a:p>
        </p:txBody>
      </p:sp>
      <p:sp>
        <p:nvSpPr>
          <p:cNvPr id="6" name="TextBox 25">
            <a:extLst>
              <a:ext uri="{FF2B5EF4-FFF2-40B4-BE49-F238E27FC236}">
                <a16:creationId xmlns:a16="http://schemas.microsoft.com/office/drawing/2014/main" id="{3325B06D-4CC0-414C-8BB8-A664A4E6CFC0}"/>
              </a:ext>
            </a:extLst>
          </p:cNvPr>
          <p:cNvSpPr txBox="1"/>
          <p:nvPr/>
        </p:nvSpPr>
        <p:spPr>
          <a:xfrm>
            <a:off x="9130107" y="5572133"/>
            <a:ext cx="1604054" cy="264560"/>
          </a:xfrm>
          <a:prstGeom prst="rect">
            <a:avLst/>
          </a:prstGeom>
          <a:noFill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wrap="square" rtlCol="0" anchor="t">
            <a:spAutoFit/>
          </a:bodyPr>
          <a:lstStyle>
            <a:lvl1pPr marL="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100"/>
              <a:t>Avg. Response Time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ABAAB9B-79F7-4968-8A46-A732E86FC8AC}"/>
              </a:ext>
            </a:extLst>
          </p:cNvPr>
          <p:cNvSpPr/>
          <p:nvPr/>
        </p:nvSpPr>
        <p:spPr>
          <a:xfrm>
            <a:off x="8796155" y="1579274"/>
            <a:ext cx="2160156" cy="661613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800"/>
              <a:t>29.28M</a:t>
            </a:r>
          </a:p>
        </p:txBody>
      </p:sp>
      <p:sp>
        <p:nvSpPr>
          <p:cNvPr id="8" name="TextBox 27">
            <a:extLst>
              <a:ext uri="{FF2B5EF4-FFF2-40B4-BE49-F238E27FC236}">
                <a16:creationId xmlns:a16="http://schemas.microsoft.com/office/drawing/2014/main" id="{FFE4E5AC-FF5F-40BD-9133-F43DE7737DC2}"/>
              </a:ext>
            </a:extLst>
          </p:cNvPr>
          <p:cNvSpPr txBox="1"/>
          <p:nvPr/>
        </p:nvSpPr>
        <p:spPr>
          <a:xfrm>
            <a:off x="9062691" y="1864382"/>
            <a:ext cx="1714733" cy="264560"/>
          </a:xfrm>
          <a:prstGeom prst="rect">
            <a:avLst/>
          </a:prstGeom>
          <a:noFill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wrap="square" rtlCol="0" anchor="t">
            <a:spAutoFit/>
          </a:bodyPr>
          <a:lstStyle>
            <a:lvl1pPr marL="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100"/>
              <a:t>Total</a:t>
            </a:r>
            <a:r>
              <a:rPr lang="en-IN" sz="1100" baseline="0"/>
              <a:t> Refund Amount</a:t>
            </a:r>
            <a:endParaRPr lang="en-IN" sz="110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259F78F-134F-4FA5-8152-C3A7D4DCE2CF}"/>
              </a:ext>
            </a:extLst>
          </p:cNvPr>
          <p:cNvSpPr/>
          <p:nvPr/>
        </p:nvSpPr>
        <p:spPr>
          <a:xfrm>
            <a:off x="8804400" y="2793456"/>
            <a:ext cx="2149332" cy="661482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800"/>
              <a:t>25000</a:t>
            </a:r>
          </a:p>
        </p:txBody>
      </p:sp>
      <p:sp>
        <p:nvSpPr>
          <p:cNvPr id="10" name="TextBox 29">
            <a:extLst>
              <a:ext uri="{FF2B5EF4-FFF2-40B4-BE49-F238E27FC236}">
                <a16:creationId xmlns:a16="http://schemas.microsoft.com/office/drawing/2014/main" id="{6CD97463-5157-4945-A16B-E8BC147C421B}"/>
              </a:ext>
            </a:extLst>
          </p:cNvPr>
          <p:cNvSpPr txBox="1"/>
          <p:nvPr/>
        </p:nvSpPr>
        <p:spPr>
          <a:xfrm>
            <a:off x="9428895" y="3139233"/>
            <a:ext cx="1013336" cy="264560"/>
          </a:xfrm>
          <a:prstGeom prst="rect">
            <a:avLst/>
          </a:prstGeom>
          <a:noFill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wrap="square" rtlCol="0" anchor="b">
            <a:spAutoFit/>
          </a:bodyPr>
          <a:lstStyle>
            <a:lvl1pPr marL="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100"/>
              <a:t>Total Tickets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F71A4B1-29CA-4DEF-A649-BBFAF57DCC58}"/>
              </a:ext>
            </a:extLst>
          </p:cNvPr>
          <p:cNvSpPr/>
          <p:nvPr/>
        </p:nvSpPr>
        <p:spPr>
          <a:xfrm>
            <a:off x="8803457" y="4006643"/>
            <a:ext cx="2097086" cy="65643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800"/>
              <a:t>24.44%</a:t>
            </a:r>
          </a:p>
        </p:txBody>
      </p:sp>
      <p:sp>
        <p:nvSpPr>
          <p:cNvPr id="12" name="TextBox 31">
            <a:extLst>
              <a:ext uri="{FF2B5EF4-FFF2-40B4-BE49-F238E27FC236}">
                <a16:creationId xmlns:a16="http://schemas.microsoft.com/office/drawing/2014/main" id="{72B85CB6-4857-4F25-922A-C7C3F06B3FB6}"/>
              </a:ext>
            </a:extLst>
          </p:cNvPr>
          <p:cNvSpPr txBox="1"/>
          <p:nvPr/>
        </p:nvSpPr>
        <p:spPr>
          <a:xfrm>
            <a:off x="8966025" y="4298580"/>
            <a:ext cx="1704749" cy="264560"/>
          </a:xfrm>
          <a:prstGeom prst="rect">
            <a:avLst/>
          </a:prstGeom>
          <a:noFill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wrap="square" rtlCol="0" anchor="t">
            <a:spAutoFit/>
          </a:bodyPr>
          <a:lstStyle>
            <a:lvl1pPr marL="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100" dirty="0"/>
              <a:t>Refund</a:t>
            </a:r>
            <a:r>
              <a:rPr lang="en-IN" sz="1100" baseline="0" dirty="0"/>
              <a:t> Rate</a:t>
            </a:r>
            <a:endParaRPr lang="en-IN" sz="1100" dirty="0"/>
          </a:p>
        </p:txBody>
      </p:sp>
    </p:spTree>
    <p:extLst>
      <p:ext uri="{BB962C8B-B14F-4D97-AF65-F5344CB8AC3E}">
        <p14:creationId xmlns:p14="http://schemas.microsoft.com/office/powerpoint/2010/main" val="37258613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ABED00-087F-FE3C-0302-9691F33463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Products &amp; Refund</a:t>
            </a:r>
            <a:endParaRPr lang="en-IN" b="1" dirty="0"/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9E8D3F98-99CB-49E1-A429-32B28F27CE0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39248945"/>
              </p:ext>
            </p:extLst>
          </p:nvPr>
        </p:nvGraphicFramePr>
        <p:xfrm>
          <a:off x="973393" y="1514167"/>
          <a:ext cx="10515601" cy="47883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488995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474DC8-3898-70DD-DE45-18E74ED1CE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7222"/>
            <a:ext cx="10515600" cy="1325563"/>
          </a:xfrm>
        </p:spPr>
        <p:txBody>
          <a:bodyPr/>
          <a:lstStyle/>
          <a:p>
            <a:r>
              <a:rPr lang="en-US" b="1" dirty="0"/>
              <a:t>Generated Tickets</a:t>
            </a:r>
            <a:endParaRPr lang="en-IN" b="1" dirty="0"/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EE72F812-9CDD-4925-9B86-E1B28656424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57361494"/>
              </p:ext>
            </p:extLst>
          </p:nvPr>
        </p:nvGraphicFramePr>
        <p:xfrm>
          <a:off x="946164" y="3917504"/>
          <a:ext cx="5678510" cy="27002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F2FDA450-AB4D-4ACF-BDC2-E84EB57839C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2990791"/>
              </p:ext>
            </p:extLst>
          </p:nvPr>
        </p:nvGraphicFramePr>
        <p:xfrm>
          <a:off x="946165" y="1029725"/>
          <a:ext cx="5678510" cy="269668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1403E1D7-F1E8-4A7A-8BF7-7E5E2850041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86750455"/>
              </p:ext>
            </p:extLst>
          </p:nvPr>
        </p:nvGraphicFramePr>
        <p:xfrm>
          <a:off x="6732639" y="2378069"/>
          <a:ext cx="4258318" cy="269668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5640384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BEA058-94E0-A3DB-E8E6-93DC9F47EE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Turnaround, Response &amp; Resolution &amp; time analysis</a:t>
            </a:r>
            <a:endParaRPr lang="en-IN" b="1" dirty="0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4BCABF9C-CEA8-4F71-B6FE-AB75949375E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663837"/>
              </p:ext>
            </p:extLst>
          </p:nvPr>
        </p:nvGraphicFramePr>
        <p:xfrm>
          <a:off x="6199294" y="2347024"/>
          <a:ext cx="5154505" cy="31510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F02F0C5D-11ED-4229-BE6D-6C84074FA5B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56638568"/>
              </p:ext>
            </p:extLst>
          </p:nvPr>
        </p:nvGraphicFramePr>
        <p:xfrm>
          <a:off x="838200" y="2347024"/>
          <a:ext cx="5154504" cy="31510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4178297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9FE9A5-D602-8F3C-1917-3486A7A110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Month wise-Analysis</a:t>
            </a:r>
            <a:endParaRPr lang="en-IN" b="1" dirty="0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0E3A46E4-7384-4003-9BA6-EE40ECB0194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92418357"/>
              </p:ext>
            </p:extLst>
          </p:nvPr>
        </p:nvGraphicFramePr>
        <p:xfrm>
          <a:off x="929381" y="1757970"/>
          <a:ext cx="3627638" cy="33420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7E2618C4-A428-4607-8B64-5360B0E3AE9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74920411"/>
              </p:ext>
            </p:extLst>
          </p:nvPr>
        </p:nvGraphicFramePr>
        <p:xfrm>
          <a:off x="5437238" y="1757970"/>
          <a:ext cx="5916561" cy="33420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40342241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1B0A8-0075-4D72-1299-E22C27B084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9538" y="2766218"/>
            <a:ext cx="2612923" cy="1325563"/>
          </a:xfrm>
        </p:spPr>
        <p:txBody>
          <a:bodyPr/>
          <a:lstStyle/>
          <a:p>
            <a:r>
              <a:rPr lang="en-US" b="1" dirty="0"/>
              <a:t>Thank You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3787751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245</Words>
  <Application>Microsoft Office PowerPoint</Application>
  <PresentationFormat>Widescreen</PresentationFormat>
  <Paragraphs>64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PowerPoint Presentation</vt:lpstr>
      <vt:lpstr>Business Problem</vt:lpstr>
      <vt:lpstr>Key Goals</vt:lpstr>
      <vt:lpstr>Key areas of analysis</vt:lpstr>
      <vt:lpstr>KPIs and Refunds</vt:lpstr>
      <vt:lpstr>Products &amp; Refund</vt:lpstr>
      <vt:lpstr>Generated Tickets</vt:lpstr>
      <vt:lpstr>Turnaround, Response &amp; Resolution &amp; time analysis</vt:lpstr>
      <vt:lpstr>Month wise-Analysis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HP Victus</dc:creator>
  <cp:lastModifiedBy>HP Victus</cp:lastModifiedBy>
  <cp:revision>1</cp:revision>
  <dcterms:created xsi:type="dcterms:W3CDTF">2026-10-02T10:32:44Z</dcterms:created>
  <dcterms:modified xsi:type="dcterms:W3CDTF">2026-10-02T10:37:18Z</dcterms:modified>
</cp:coreProperties>
</file>